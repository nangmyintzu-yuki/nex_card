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3D3200"/>
          </a:solidFill>
          <a:ln/>
          <a:effectLst>
            <a:outerShdw sx="100000" sy="100000" kx="0" ky="0" algn="bl" rotWithShape="0" blurRad="1524000" dist="50800" dir="16200000">
              <a:srgbClr val="D4AF37">
                <a:alpha val="1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731520" y="1371600"/>
            <a:ext cx="201168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 User Guide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walkthrough for creating, managing, and sharing your digital identity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46304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creation, login, and first-time setup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Registration 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630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nexcard.io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201168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11" name="Shape 9"/>
          <p:cNvSpPr/>
          <p:nvPr/>
        </p:nvSpPr>
        <p:spPr>
          <a:xfrm>
            <a:off x="228600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226771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4630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228600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1880" y="201168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17" name="Shape 15"/>
          <p:cNvSpPr/>
          <p:nvPr/>
        </p:nvSpPr>
        <p:spPr>
          <a:xfrm>
            <a:off x="393192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391363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14630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393192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Form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57800" y="201168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23" name="Shape 21"/>
          <p:cNvSpPr/>
          <p:nvPr/>
        </p:nvSpPr>
        <p:spPr>
          <a:xfrm>
            <a:off x="557784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555955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4630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557784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2011680"/>
            <a:ext cx="2743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arrow"/>
          </a:ln>
        </p:spPr>
      </p:sp>
      <p:sp>
        <p:nvSpPr>
          <p:cNvPr id="29" name="Shape 27"/>
          <p:cNvSpPr/>
          <p:nvPr/>
        </p:nvSpPr>
        <p:spPr>
          <a:xfrm>
            <a:off x="722376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720547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1463040"/>
            <a:ext cx="320040" cy="3200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772668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722376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Dashboard!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credit card required for free tier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name, email, password — that's 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566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Email verification via confirmation link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886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Auto-login after verification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Session stored as HTTP-only cookie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3246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Secure, SameSite=Lax policy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3566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Configurable expiry (default: 30 days)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3886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Auto-cleanup on expiry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In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4630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2011680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arrow"/>
          </a:ln>
        </p:spPr>
      </p:sp>
      <p:sp>
        <p:nvSpPr>
          <p:cNvPr id="11" name="Shape 9"/>
          <p:cNvSpPr/>
          <p:nvPr/>
        </p:nvSpPr>
        <p:spPr>
          <a:xfrm>
            <a:off x="228600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226771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4630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228600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1880" y="2011680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arrow"/>
          </a:ln>
        </p:spPr>
      </p:sp>
      <p:sp>
        <p:nvSpPr>
          <p:cNvPr id="17" name="Shape 15"/>
          <p:cNvSpPr/>
          <p:nvPr/>
        </p:nvSpPr>
        <p:spPr>
          <a:xfrm>
            <a:off x="393192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391363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14630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393192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57800" y="2011680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arrow"/>
          </a:ln>
        </p:spPr>
      </p:sp>
      <p:sp>
        <p:nvSpPr>
          <p:cNvPr id="23" name="Shape 21"/>
          <p:cNvSpPr/>
          <p:nvPr/>
        </p:nvSpPr>
        <p:spPr>
          <a:xfrm>
            <a:off x="557784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555955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4630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557784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2011680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headEnd type="arrow"/>
          </a:ln>
        </p:spPr>
      </p:sp>
      <p:sp>
        <p:nvSpPr>
          <p:cNvPr id="29" name="Shape 27"/>
          <p:cNvSpPr/>
          <p:nvPr/>
        </p:nvSpPr>
        <p:spPr>
          <a:xfrm>
            <a:off x="7223760" y="164592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7205472" y="162763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14630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772668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7223760" y="1783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Dashboard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Click "Sign In" on navbar top-right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Enter registered email + password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bcrypt password comparison (12 salt rounds)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New session record created in database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2D6EB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central hub for managing all profiles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2D6E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at a Glance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82880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82880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1097280"/>
            <a:ext cx="182880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92240" y="1097280"/>
            <a:ext cx="182880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Views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3931920" cy="1188720"/>
          </a:xfrm>
          <a:prstGeom prst="rect">
            <a:avLst>
              <a:gd name="adj" fmla="val 3846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286000"/>
            <a:ext cx="36576" cy="1188720"/>
          </a:xfrm>
          <a:prstGeom prst="rect">
            <a:avLst>
              <a:gd name="adj" fmla="val 125000"/>
            </a:avLst>
          </a:prstGeom>
          <a:solidFill>
            <a:srgbClr val="2D6EB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1560" y="2377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Cards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2743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profiles as card tiles with template name, category, publish status, and view count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286000"/>
            <a:ext cx="3931920" cy="1188720"/>
          </a:xfrm>
          <a:prstGeom prst="rect">
            <a:avLst>
              <a:gd name="adj" fmla="val 3846"/>
            </a:avLst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2286000"/>
            <a:ext cx="36576" cy="1188720"/>
          </a:xfrm>
          <a:prstGeom prst="rect">
            <a:avLst>
              <a:gd name="adj" fmla="val 125000"/>
            </a:avLst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49240" y="23774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743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Edit, QR Code, Analytics, NFC — one-click access to all management tools per card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Card Features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6576" cy="1645920"/>
          </a:xfrm>
          <a:prstGeom prst="rect">
            <a:avLst>
              <a:gd name="adj" fmla="val 12500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Preview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card shows the template thumbnail with hover scale effect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56032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0" y="1097280"/>
            <a:ext cx="36576" cy="1645920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947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Counter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view count with atomic increment on every profile visit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097280"/>
            <a:ext cx="256032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1097280"/>
            <a:ext cx="36576" cy="1645920"/>
          </a:xfrm>
          <a:prstGeom prst="rect">
            <a:avLst>
              <a:gd name="adj" fmla="val 125000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1188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Badge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Semi-transparent overlay on unpublished cards with backdrop blur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Staggered fade-in animation on page load (CSS @keyframes staggered-fade-in)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Hover: cards lift up (translateY -4px) with enhanced shadow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Template thumbnails scale to 110% with opacity increase on hover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Grid: 1 col mobile → 2 col sm → 3 col md → 4 col lg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EC489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Profile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selection, template choice, and onboarding flow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Creation — 4-Step 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82880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1444752" y="181051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64592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2194560"/>
            <a:ext cx="27432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headEnd type="arrow"/>
          </a:ln>
        </p:spPr>
      </p:sp>
      <p:sp>
        <p:nvSpPr>
          <p:cNvPr id="11" name="Shape 9"/>
          <p:cNvSpPr/>
          <p:nvPr/>
        </p:nvSpPr>
        <p:spPr>
          <a:xfrm>
            <a:off x="3108960" y="182880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3090672" y="181051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64592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3108960" y="1965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2194560"/>
            <a:ext cx="27432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headEnd type="arrow"/>
          </a:ln>
        </p:spPr>
      </p:sp>
      <p:sp>
        <p:nvSpPr>
          <p:cNvPr id="17" name="Shape 15"/>
          <p:cNvSpPr/>
          <p:nvPr/>
        </p:nvSpPr>
        <p:spPr>
          <a:xfrm>
            <a:off x="4754880" y="182880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4736592" y="181051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164592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4754880" y="1965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2194560"/>
            <a:ext cx="27432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  <a:headEnd type="arrow"/>
          </a:ln>
        </p:spPr>
      </p:sp>
      <p:sp>
        <p:nvSpPr>
          <p:cNvPr id="23" name="Shape 21"/>
          <p:cNvSpPr/>
          <p:nvPr/>
        </p:nvSpPr>
        <p:spPr>
          <a:xfrm>
            <a:off x="6400800" y="182880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6382512" y="181051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1645920"/>
            <a:ext cx="320040" cy="3200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6400800" y="1965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Share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2926080"/>
            <a:ext cx="36576" cy="1645920"/>
          </a:xfrm>
          <a:prstGeom prst="rect">
            <a:avLst>
              <a:gd name="adj" fmla="val 125000"/>
            </a:avLst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51560" y="30175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Category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3832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Card, Portfolio, Business, or Wedding — each with unique templates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6888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2468880" y="2926080"/>
            <a:ext cx="36576" cy="1645920"/>
          </a:xfrm>
          <a:prstGeom prst="rect">
            <a:avLst>
              <a:gd name="adj" fmla="val 125000"/>
            </a:avLst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265176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063240" y="30175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Template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51760" y="33832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premium designs. Preview before committing. Switch anytime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8056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/>
        </p:spPr>
      </p:sp>
      <p:sp>
        <p:nvSpPr>
          <p:cNvPr id="39" name="Shape 37"/>
          <p:cNvSpPr/>
          <p:nvPr/>
        </p:nvSpPr>
        <p:spPr>
          <a:xfrm>
            <a:off x="4480560" y="2926080"/>
            <a:ext cx="36576" cy="1645920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074920" y="30175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Content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33832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details, links, photos. Live preview updates in real-time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92240" y="2926080"/>
            <a:ext cx="182880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/>
        </p:spPr>
      </p:sp>
      <p:sp>
        <p:nvSpPr>
          <p:cNvPr id="44" name="Shape 42"/>
          <p:cNvSpPr/>
          <p:nvPr/>
        </p:nvSpPr>
        <p:spPr>
          <a:xfrm>
            <a:off x="6492240" y="2926080"/>
            <a:ext cx="36576" cy="1645920"/>
          </a:xfrm>
          <a:prstGeom prst="rect">
            <a:avLst>
              <a:gd name="adj" fmla="val 125000"/>
            </a:avLst>
          </a:prstGeom>
          <a:solidFill>
            <a:srgbClr val="D4AF37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086600" y="30175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Publish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75120" y="33832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publish switch. Share via link, QR, or NFC tag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Choose a Category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2286000"/>
          </a:xfrm>
          <a:prstGeom prst="rect">
            <a:avLst>
              <a:gd name="adj" fmla="val 2381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920240" cy="36576"/>
          </a:xfrm>
          <a:prstGeom prst="rect">
            <a:avLst>
              <a:gd name="adj" fmla="val 125000"/>
            </a:avLst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📇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Name Card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info, social links, vCard, CTA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1920240" cy="2286000"/>
          </a:xfrm>
          <a:prstGeom prst="rect">
            <a:avLst>
              <a:gd name="adj" fmla="val 2381"/>
            </a:avLst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1097280"/>
            <a:ext cx="1920240" cy="36576"/>
          </a:xfrm>
          <a:prstGeom prst="rect">
            <a:avLst>
              <a:gd name="adj" fmla="val 125000"/>
            </a:avLst>
          </a:prstGeom>
          <a:solidFill>
            <a:srgbClr val="EC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3774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Projects, skills, experience, education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1920240" cy="2286000"/>
          </a:xfrm>
          <a:prstGeom prst="rect">
            <a:avLst>
              <a:gd name="adj" fmla="val 2381"/>
            </a:avLst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097280"/>
            <a:ext cx="1920240" cy="36576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3774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testimonials, hours, gallery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66560" y="1097280"/>
            <a:ext cx="1920240" cy="2286000"/>
          </a:xfrm>
          <a:prstGeom prst="rect">
            <a:avLst>
              <a:gd name="adj" fmla="val 2381"/>
            </a:avLst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1097280"/>
            <a:ext cx="1920240" cy="36576"/>
          </a:xfrm>
          <a:prstGeom prst="rect">
            <a:avLst>
              <a:gd name="adj" fmla="val 125000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 Invitation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3774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Partners, love story, events, RSVP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Each category has 5 unique templates with distinct design languages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Templates define layout, color scheme, and available fields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Template Gallery (20 Templates)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5156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51560"/>
            <a:ext cx="749808" cy="54864"/>
          </a:xfrm>
          <a:prstGeom prst="rect">
            <a:avLst>
              <a:gd name="adj" fmla="val 83333"/>
            </a:avLst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374904" y="118872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8" name="Shape 6"/>
          <p:cNvSpPr/>
          <p:nvPr/>
        </p:nvSpPr>
        <p:spPr>
          <a:xfrm>
            <a:off x="374904" y="1188720"/>
            <a:ext cx="548640" cy="137160"/>
          </a:xfrm>
          <a:prstGeom prst="rect">
            <a:avLst>
              <a:gd name="adj" fmla="val 33333"/>
            </a:avLst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" y="139903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" y="149047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" y="158191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03911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4320" y="22037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1133856" y="105156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3856" y="1051560"/>
            <a:ext cx="749808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18" name="Shape 16"/>
          <p:cNvSpPr/>
          <p:nvPr/>
        </p:nvSpPr>
        <p:spPr>
          <a:xfrm>
            <a:off x="1234440" y="118872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1234440" y="1188720"/>
            <a:ext cx="548640" cy="137160"/>
          </a:xfrm>
          <a:prstGeom prst="rect">
            <a:avLst>
              <a:gd name="adj" fmla="val 33333"/>
            </a:avLst>
          </a:prstGeom>
          <a:solidFill>
            <a:srgbClr val="D4AF37"/>
          </a:solidFill>
          <a:ln/>
        </p:spPr>
      </p:sp>
      <p:sp>
        <p:nvSpPr>
          <p:cNvPr id="20" name="Shape 18"/>
          <p:cNvSpPr/>
          <p:nvPr/>
        </p:nvSpPr>
        <p:spPr>
          <a:xfrm>
            <a:off x="1289304" y="139903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89304" y="149047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22" name="Shape 20"/>
          <p:cNvSpPr/>
          <p:nvPr/>
        </p:nvSpPr>
        <p:spPr>
          <a:xfrm>
            <a:off x="1289304" y="158191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89304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24" name="Shape 22"/>
          <p:cNvSpPr/>
          <p:nvPr/>
        </p:nvSpPr>
        <p:spPr>
          <a:xfrm>
            <a:off x="1490472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25" name="Text 23"/>
          <p:cNvSpPr/>
          <p:nvPr/>
        </p:nvSpPr>
        <p:spPr>
          <a:xfrm>
            <a:off x="1133856" y="203911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3856" y="22037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1993392" y="105156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28" name="Shape 26"/>
          <p:cNvSpPr/>
          <p:nvPr/>
        </p:nvSpPr>
        <p:spPr>
          <a:xfrm>
            <a:off x="1993392" y="1051560"/>
            <a:ext cx="749808" cy="54864"/>
          </a:xfrm>
          <a:prstGeom prst="rect">
            <a:avLst>
              <a:gd name="adj" fmla="val 83333"/>
            </a:avLst>
          </a:prstGeom>
          <a:solidFill>
            <a:srgbClr val="EC4899"/>
          </a:solidFill>
          <a:ln/>
        </p:spPr>
      </p:sp>
      <p:sp>
        <p:nvSpPr>
          <p:cNvPr id="29" name="Shape 27"/>
          <p:cNvSpPr/>
          <p:nvPr/>
        </p:nvSpPr>
        <p:spPr>
          <a:xfrm>
            <a:off x="2093976" y="118872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30" name="Shape 28"/>
          <p:cNvSpPr/>
          <p:nvPr/>
        </p:nvSpPr>
        <p:spPr>
          <a:xfrm>
            <a:off x="2093976" y="1188720"/>
            <a:ext cx="548640" cy="137160"/>
          </a:xfrm>
          <a:prstGeom prst="rect">
            <a:avLst>
              <a:gd name="adj" fmla="val 33333"/>
            </a:avLst>
          </a:prstGeom>
          <a:solidFill>
            <a:srgbClr val="EC4899"/>
          </a:solidFill>
          <a:ln/>
        </p:spPr>
      </p:sp>
      <p:sp>
        <p:nvSpPr>
          <p:cNvPr id="31" name="Shape 29"/>
          <p:cNvSpPr/>
          <p:nvPr/>
        </p:nvSpPr>
        <p:spPr>
          <a:xfrm>
            <a:off x="2148840" y="139903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32" name="Shape 30"/>
          <p:cNvSpPr/>
          <p:nvPr/>
        </p:nvSpPr>
        <p:spPr>
          <a:xfrm>
            <a:off x="2148840" y="149047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33" name="Shape 31"/>
          <p:cNvSpPr/>
          <p:nvPr/>
        </p:nvSpPr>
        <p:spPr>
          <a:xfrm>
            <a:off x="2148840" y="158191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34" name="Shape 32"/>
          <p:cNvSpPr/>
          <p:nvPr/>
        </p:nvSpPr>
        <p:spPr>
          <a:xfrm>
            <a:off x="2148840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35" name="Shape 33"/>
          <p:cNvSpPr/>
          <p:nvPr/>
        </p:nvSpPr>
        <p:spPr>
          <a:xfrm>
            <a:off x="2350008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36" name="Text 34"/>
          <p:cNvSpPr/>
          <p:nvPr/>
        </p:nvSpPr>
        <p:spPr>
          <a:xfrm>
            <a:off x="1993392" y="203911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993392" y="22037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852928" y="105156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39" name="Shape 37"/>
          <p:cNvSpPr/>
          <p:nvPr/>
        </p:nvSpPr>
        <p:spPr>
          <a:xfrm>
            <a:off x="2852928" y="1051560"/>
            <a:ext cx="749808" cy="54864"/>
          </a:xfrm>
          <a:prstGeom prst="rect">
            <a:avLst>
              <a:gd name="adj" fmla="val 83333"/>
            </a:avLst>
          </a:prstGeom>
          <a:solidFill>
            <a:srgbClr val="EF4444"/>
          </a:solidFill>
          <a:ln/>
        </p:spPr>
      </p:sp>
      <p:sp>
        <p:nvSpPr>
          <p:cNvPr id="40" name="Shape 38"/>
          <p:cNvSpPr/>
          <p:nvPr/>
        </p:nvSpPr>
        <p:spPr>
          <a:xfrm>
            <a:off x="2953512" y="118872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41" name="Shape 39"/>
          <p:cNvSpPr/>
          <p:nvPr/>
        </p:nvSpPr>
        <p:spPr>
          <a:xfrm>
            <a:off x="2953512" y="1188720"/>
            <a:ext cx="548640" cy="137160"/>
          </a:xfrm>
          <a:prstGeom prst="rect">
            <a:avLst>
              <a:gd name="adj" fmla="val 33333"/>
            </a:avLst>
          </a:prstGeom>
          <a:solidFill>
            <a:srgbClr val="EF4444"/>
          </a:solidFill>
          <a:ln/>
        </p:spPr>
      </p:sp>
      <p:sp>
        <p:nvSpPr>
          <p:cNvPr id="42" name="Shape 40"/>
          <p:cNvSpPr/>
          <p:nvPr/>
        </p:nvSpPr>
        <p:spPr>
          <a:xfrm>
            <a:off x="3008376" y="139903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43" name="Shape 41"/>
          <p:cNvSpPr/>
          <p:nvPr/>
        </p:nvSpPr>
        <p:spPr>
          <a:xfrm>
            <a:off x="3008376" y="149047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44" name="Shape 42"/>
          <p:cNvSpPr/>
          <p:nvPr/>
        </p:nvSpPr>
        <p:spPr>
          <a:xfrm>
            <a:off x="3008376" y="158191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45" name="Shape 43"/>
          <p:cNvSpPr/>
          <p:nvPr/>
        </p:nvSpPr>
        <p:spPr>
          <a:xfrm>
            <a:off x="3008376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9544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47" name="Text 45"/>
          <p:cNvSpPr/>
          <p:nvPr/>
        </p:nvSpPr>
        <p:spPr>
          <a:xfrm>
            <a:off x="2852928" y="203911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2852928" y="22037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3712464" y="105156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50" name="Shape 48"/>
          <p:cNvSpPr/>
          <p:nvPr/>
        </p:nvSpPr>
        <p:spPr>
          <a:xfrm>
            <a:off x="3712464" y="1051560"/>
            <a:ext cx="749808" cy="54864"/>
          </a:xfrm>
          <a:prstGeom prst="rect">
            <a:avLst>
              <a:gd name="adj" fmla="val 83333"/>
            </a:avLst>
          </a:prstGeom>
          <a:solidFill>
            <a:srgbClr val="CCCCCC"/>
          </a:solidFill>
          <a:ln/>
        </p:spPr>
      </p:sp>
      <p:sp>
        <p:nvSpPr>
          <p:cNvPr id="51" name="Shape 49"/>
          <p:cNvSpPr/>
          <p:nvPr/>
        </p:nvSpPr>
        <p:spPr>
          <a:xfrm>
            <a:off x="3813048" y="118872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52" name="Shape 50"/>
          <p:cNvSpPr/>
          <p:nvPr/>
        </p:nvSpPr>
        <p:spPr>
          <a:xfrm>
            <a:off x="3813048" y="1188720"/>
            <a:ext cx="548640" cy="137160"/>
          </a:xfrm>
          <a:prstGeom prst="rect">
            <a:avLst>
              <a:gd name="adj" fmla="val 33333"/>
            </a:avLst>
          </a:prstGeom>
          <a:solidFill>
            <a:srgbClr val="CCCCCC"/>
          </a:solidFill>
          <a:ln/>
        </p:spPr>
      </p:sp>
      <p:sp>
        <p:nvSpPr>
          <p:cNvPr id="53" name="Shape 51"/>
          <p:cNvSpPr/>
          <p:nvPr/>
        </p:nvSpPr>
        <p:spPr>
          <a:xfrm>
            <a:off x="3867912" y="139903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54" name="Shape 52"/>
          <p:cNvSpPr/>
          <p:nvPr/>
        </p:nvSpPr>
        <p:spPr>
          <a:xfrm>
            <a:off x="3867912" y="149047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55" name="Shape 53"/>
          <p:cNvSpPr/>
          <p:nvPr/>
        </p:nvSpPr>
        <p:spPr>
          <a:xfrm>
            <a:off x="3867912" y="158191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56" name="Shape 54"/>
          <p:cNvSpPr/>
          <p:nvPr/>
        </p:nvSpPr>
        <p:spPr>
          <a:xfrm>
            <a:off x="3867912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57" name="Shape 55"/>
          <p:cNvSpPr/>
          <p:nvPr/>
        </p:nvSpPr>
        <p:spPr>
          <a:xfrm>
            <a:off x="4069080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58" name="Text 56"/>
          <p:cNvSpPr/>
          <p:nvPr/>
        </p:nvSpPr>
        <p:spPr>
          <a:xfrm>
            <a:off x="3712464" y="203911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Titanium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712464" y="22037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4572000" y="105156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61" name="Shape 59"/>
          <p:cNvSpPr/>
          <p:nvPr/>
        </p:nvSpPr>
        <p:spPr>
          <a:xfrm>
            <a:off x="4572000" y="1051560"/>
            <a:ext cx="749808" cy="54864"/>
          </a:xfrm>
          <a:prstGeom prst="rect">
            <a:avLst>
              <a:gd name="adj" fmla="val 83333"/>
            </a:avLst>
          </a:prstGeom>
          <a:solidFill>
            <a:srgbClr val="3B82F6"/>
          </a:solidFill>
          <a:ln/>
        </p:spPr>
      </p:sp>
      <p:sp>
        <p:nvSpPr>
          <p:cNvPr id="62" name="Shape 60"/>
          <p:cNvSpPr/>
          <p:nvPr/>
        </p:nvSpPr>
        <p:spPr>
          <a:xfrm>
            <a:off x="4672584" y="118872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63" name="Shape 61"/>
          <p:cNvSpPr/>
          <p:nvPr/>
        </p:nvSpPr>
        <p:spPr>
          <a:xfrm>
            <a:off x="4672584" y="1188720"/>
            <a:ext cx="548640" cy="137160"/>
          </a:xfrm>
          <a:prstGeom prst="rect">
            <a:avLst>
              <a:gd name="adj" fmla="val 33333"/>
            </a:avLst>
          </a:prstGeom>
          <a:solidFill>
            <a:srgbClr val="3B82F6"/>
          </a:solidFill>
          <a:ln/>
        </p:spPr>
      </p:sp>
      <p:sp>
        <p:nvSpPr>
          <p:cNvPr id="64" name="Shape 62"/>
          <p:cNvSpPr/>
          <p:nvPr/>
        </p:nvSpPr>
        <p:spPr>
          <a:xfrm>
            <a:off x="4727448" y="139903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65" name="Shape 63"/>
          <p:cNvSpPr/>
          <p:nvPr/>
        </p:nvSpPr>
        <p:spPr>
          <a:xfrm>
            <a:off x="4727448" y="149047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66" name="Shape 64"/>
          <p:cNvSpPr/>
          <p:nvPr/>
        </p:nvSpPr>
        <p:spPr>
          <a:xfrm>
            <a:off x="4727448" y="158191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67" name="Shape 65"/>
          <p:cNvSpPr/>
          <p:nvPr/>
        </p:nvSpPr>
        <p:spPr>
          <a:xfrm>
            <a:off x="4727448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68" name="Shape 66"/>
          <p:cNvSpPr/>
          <p:nvPr/>
        </p:nvSpPr>
        <p:spPr>
          <a:xfrm>
            <a:off x="4928616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0" y="203911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0" y="22037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5431536" y="105156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72" name="Shape 70"/>
          <p:cNvSpPr/>
          <p:nvPr/>
        </p:nvSpPr>
        <p:spPr>
          <a:xfrm>
            <a:off x="5431536" y="1051560"/>
            <a:ext cx="749808" cy="54864"/>
          </a:xfrm>
          <a:prstGeom prst="rect">
            <a:avLst>
              <a:gd name="adj" fmla="val 83333"/>
            </a:avLst>
          </a:prstGeom>
          <a:solidFill>
            <a:srgbClr val="EC4899"/>
          </a:solidFill>
          <a:ln/>
        </p:spPr>
      </p:sp>
      <p:sp>
        <p:nvSpPr>
          <p:cNvPr id="73" name="Shape 71"/>
          <p:cNvSpPr/>
          <p:nvPr/>
        </p:nvSpPr>
        <p:spPr>
          <a:xfrm>
            <a:off x="5532120" y="118872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74" name="Shape 72"/>
          <p:cNvSpPr/>
          <p:nvPr/>
        </p:nvSpPr>
        <p:spPr>
          <a:xfrm>
            <a:off x="5532120" y="1188720"/>
            <a:ext cx="548640" cy="137160"/>
          </a:xfrm>
          <a:prstGeom prst="rect">
            <a:avLst>
              <a:gd name="adj" fmla="val 33333"/>
            </a:avLst>
          </a:prstGeom>
          <a:solidFill>
            <a:srgbClr val="EC4899"/>
          </a:solidFill>
          <a:ln/>
        </p:spPr>
      </p:sp>
      <p:sp>
        <p:nvSpPr>
          <p:cNvPr id="75" name="Shape 73"/>
          <p:cNvSpPr/>
          <p:nvPr/>
        </p:nvSpPr>
        <p:spPr>
          <a:xfrm>
            <a:off x="5586984" y="139903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76" name="Shape 74"/>
          <p:cNvSpPr/>
          <p:nvPr/>
        </p:nvSpPr>
        <p:spPr>
          <a:xfrm>
            <a:off x="5586984" y="149047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77" name="Shape 75"/>
          <p:cNvSpPr/>
          <p:nvPr/>
        </p:nvSpPr>
        <p:spPr>
          <a:xfrm>
            <a:off x="5586984" y="158191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78" name="Shape 76"/>
          <p:cNvSpPr/>
          <p:nvPr/>
        </p:nvSpPr>
        <p:spPr>
          <a:xfrm>
            <a:off x="5586984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79" name="Shape 77"/>
          <p:cNvSpPr/>
          <p:nvPr/>
        </p:nvSpPr>
        <p:spPr>
          <a:xfrm>
            <a:off x="5788152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80" name="Text 78"/>
          <p:cNvSpPr/>
          <p:nvPr/>
        </p:nvSpPr>
        <p:spPr>
          <a:xfrm>
            <a:off x="5431536" y="203911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5431536" y="22037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6291072" y="105156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83" name="Shape 81"/>
          <p:cNvSpPr/>
          <p:nvPr/>
        </p:nvSpPr>
        <p:spPr>
          <a:xfrm>
            <a:off x="6291072" y="1051560"/>
            <a:ext cx="749808" cy="54864"/>
          </a:xfrm>
          <a:prstGeom prst="rect">
            <a:avLst>
              <a:gd name="adj" fmla="val 83333"/>
            </a:avLst>
          </a:prstGeom>
          <a:solidFill>
            <a:srgbClr val="F97316"/>
          </a:solidFill>
          <a:ln/>
        </p:spPr>
      </p:sp>
      <p:sp>
        <p:nvSpPr>
          <p:cNvPr id="84" name="Shape 82"/>
          <p:cNvSpPr/>
          <p:nvPr/>
        </p:nvSpPr>
        <p:spPr>
          <a:xfrm>
            <a:off x="6391656" y="118872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85" name="Shape 83"/>
          <p:cNvSpPr/>
          <p:nvPr/>
        </p:nvSpPr>
        <p:spPr>
          <a:xfrm>
            <a:off x="6391656" y="1188720"/>
            <a:ext cx="548640" cy="137160"/>
          </a:xfrm>
          <a:prstGeom prst="rect">
            <a:avLst>
              <a:gd name="adj" fmla="val 33333"/>
            </a:avLst>
          </a:prstGeom>
          <a:solidFill>
            <a:srgbClr val="F97316"/>
          </a:solidFill>
          <a:ln/>
        </p:spPr>
      </p:sp>
      <p:sp>
        <p:nvSpPr>
          <p:cNvPr id="86" name="Shape 84"/>
          <p:cNvSpPr/>
          <p:nvPr/>
        </p:nvSpPr>
        <p:spPr>
          <a:xfrm>
            <a:off x="6446520" y="139903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87" name="Shape 85"/>
          <p:cNvSpPr/>
          <p:nvPr/>
        </p:nvSpPr>
        <p:spPr>
          <a:xfrm>
            <a:off x="6446520" y="149047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88" name="Shape 86"/>
          <p:cNvSpPr/>
          <p:nvPr/>
        </p:nvSpPr>
        <p:spPr>
          <a:xfrm>
            <a:off x="6446520" y="158191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89" name="Shape 87"/>
          <p:cNvSpPr/>
          <p:nvPr/>
        </p:nvSpPr>
        <p:spPr>
          <a:xfrm>
            <a:off x="6446520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90" name="Shape 88"/>
          <p:cNvSpPr/>
          <p:nvPr/>
        </p:nvSpPr>
        <p:spPr>
          <a:xfrm>
            <a:off x="6647688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91" name="Text 89"/>
          <p:cNvSpPr/>
          <p:nvPr/>
        </p:nvSpPr>
        <p:spPr>
          <a:xfrm>
            <a:off x="6291072" y="203911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6291072" y="22037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7150608" y="105156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94" name="Shape 92"/>
          <p:cNvSpPr/>
          <p:nvPr/>
        </p:nvSpPr>
        <p:spPr>
          <a:xfrm>
            <a:off x="7150608" y="1051560"/>
            <a:ext cx="749808" cy="54864"/>
          </a:xfrm>
          <a:prstGeom prst="rect">
            <a:avLst>
              <a:gd name="adj" fmla="val 83333"/>
            </a:avLst>
          </a:prstGeom>
          <a:solidFill>
            <a:srgbClr val="14B8A6"/>
          </a:solidFill>
          <a:ln/>
        </p:spPr>
      </p:sp>
      <p:sp>
        <p:nvSpPr>
          <p:cNvPr id="95" name="Shape 93"/>
          <p:cNvSpPr/>
          <p:nvPr/>
        </p:nvSpPr>
        <p:spPr>
          <a:xfrm>
            <a:off x="7251192" y="118872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96" name="Shape 94"/>
          <p:cNvSpPr/>
          <p:nvPr/>
        </p:nvSpPr>
        <p:spPr>
          <a:xfrm>
            <a:off x="7251192" y="1188720"/>
            <a:ext cx="548640" cy="137160"/>
          </a:xfrm>
          <a:prstGeom prst="rect">
            <a:avLst>
              <a:gd name="adj" fmla="val 33333"/>
            </a:avLst>
          </a:prstGeom>
          <a:solidFill>
            <a:srgbClr val="14B8A6"/>
          </a:solidFill>
          <a:ln/>
        </p:spPr>
      </p:sp>
      <p:sp>
        <p:nvSpPr>
          <p:cNvPr id="97" name="Shape 95"/>
          <p:cNvSpPr/>
          <p:nvPr/>
        </p:nvSpPr>
        <p:spPr>
          <a:xfrm>
            <a:off x="7306056" y="139903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98" name="Shape 96"/>
          <p:cNvSpPr/>
          <p:nvPr/>
        </p:nvSpPr>
        <p:spPr>
          <a:xfrm>
            <a:off x="7306056" y="149047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99" name="Shape 97"/>
          <p:cNvSpPr/>
          <p:nvPr/>
        </p:nvSpPr>
        <p:spPr>
          <a:xfrm>
            <a:off x="7306056" y="158191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00" name="Shape 98"/>
          <p:cNvSpPr/>
          <p:nvPr/>
        </p:nvSpPr>
        <p:spPr>
          <a:xfrm>
            <a:off x="7306056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01" name="Shape 99"/>
          <p:cNvSpPr/>
          <p:nvPr/>
        </p:nvSpPr>
        <p:spPr>
          <a:xfrm>
            <a:off x="7507224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02" name="Text 100"/>
          <p:cNvSpPr/>
          <p:nvPr/>
        </p:nvSpPr>
        <p:spPr>
          <a:xfrm>
            <a:off x="7150608" y="203911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7150608" y="22037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8010144" y="105156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8010144" y="1051560"/>
            <a:ext cx="749808" cy="54864"/>
          </a:xfrm>
          <a:prstGeom prst="rect">
            <a:avLst>
              <a:gd name="adj" fmla="val 83333"/>
            </a:avLst>
          </a:prstGeom>
          <a:solidFill>
            <a:srgbClr val="2D6EB5"/>
          </a:solidFill>
          <a:ln/>
        </p:spPr>
      </p:sp>
      <p:sp>
        <p:nvSpPr>
          <p:cNvPr id="106" name="Shape 104"/>
          <p:cNvSpPr/>
          <p:nvPr/>
        </p:nvSpPr>
        <p:spPr>
          <a:xfrm>
            <a:off x="8110728" y="118872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110728" y="1188720"/>
            <a:ext cx="548640" cy="137160"/>
          </a:xfrm>
          <a:prstGeom prst="rect">
            <a:avLst>
              <a:gd name="adj" fmla="val 33333"/>
            </a:avLst>
          </a:prstGeom>
          <a:solidFill>
            <a:srgbClr val="2D6EB5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165592" y="139903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8165592" y="149047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165592" y="158191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165592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366760" y="170992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13" name="Text 111"/>
          <p:cNvSpPr/>
          <p:nvPr/>
        </p:nvSpPr>
        <p:spPr>
          <a:xfrm>
            <a:off x="8010144" y="203911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8010144" y="220370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274320" y="269748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274320" y="2697480"/>
            <a:ext cx="749808" cy="54864"/>
          </a:xfrm>
          <a:prstGeom prst="rect">
            <a:avLst>
              <a:gd name="adj" fmla="val 83333"/>
            </a:avLst>
          </a:prstGeom>
          <a:solidFill>
            <a:srgbClr val="EF4444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74904" y="283464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74904" y="2834640"/>
            <a:ext cx="548640" cy="137160"/>
          </a:xfrm>
          <a:prstGeom prst="rect">
            <a:avLst>
              <a:gd name="adj" fmla="val 33333"/>
            </a:avLst>
          </a:prstGeom>
          <a:solidFill>
            <a:srgbClr val="EF4444"/>
          </a:solidFill>
          <a:ln/>
        </p:spPr>
      </p:sp>
      <p:sp>
        <p:nvSpPr>
          <p:cNvPr id="119" name="Shape 117"/>
          <p:cNvSpPr/>
          <p:nvPr/>
        </p:nvSpPr>
        <p:spPr>
          <a:xfrm>
            <a:off x="429768" y="304495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429768" y="313639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121" name="Shape 119"/>
          <p:cNvSpPr/>
          <p:nvPr/>
        </p:nvSpPr>
        <p:spPr>
          <a:xfrm>
            <a:off x="429768" y="322783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429768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0936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24" name="Text 122"/>
          <p:cNvSpPr/>
          <p:nvPr/>
        </p:nvSpPr>
        <p:spPr>
          <a:xfrm>
            <a:off x="274320" y="36850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Marquee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274320" y="38496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1133856" y="269748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27" name="Shape 125"/>
          <p:cNvSpPr/>
          <p:nvPr/>
        </p:nvSpPr>
        <p:spPr>
          <a:xfrm>
            <a:off x="1133856" y="2697480"/>
            <a:ext cx="749808" cy="54864"/>
          </a:xfrm>
          <a:prstGeom prst="rect">
            <a:avLst>
              <a:gd name="adj" fmla="val 83333"/>
            </a:avLst>
          </a:prstGeom>
          <a:solidFill>
            <a:srgbClr val="CCCCCC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234440" y="283464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234440" y="2834640"/>
            <a:ext cx="548640" cy="137160"/>
          </a:xfrm>
          <a:prstGeom prst="rect">
            <a:avLst>
              <a:gd name="adj" fmla="val 33333"/>
            </a:avLst>
          </a:prstGeom>
          <a:solidFill>
            <a:srgbClr val="CCCCCC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289304" y="304495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289304" y="313639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289304" y="322783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289304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490472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35" name="Text 133"/>
          <p:cNvSpPr/>
          <p:nvPr/>
        </p:nvSpPr>
        <p:spPr>
          <a:xfrm>
            <a:off x="1133856" y="36850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1133856" y="38496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1993392" y="269748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993392" y="2697480"/>
            <a:ext cx="749808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139" name="Shape 137"/>
          <p:cNvSpPr/>
          <p:nvPr/>
        </p:nvSpPr>
        <p:spPr>
          <a:xfrm>
            <a:off x="2093976" y="283464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40" name="Shape 138"/>
          <p:cNvSpPr/>
          <p:nvPr/>
        </p:nvSpPr>
        <p:spPr>
          <a:xfrm>
            <a:off x="2093976" y="2834640"/>
            <a:ext cx="548640" cy="137160"/>
          </a:xfrm>
          <a:prstGeom prst="rect">
            <a:avLst>
              <a:gd name="adj" fmla="val 33333"/>
            </a:avLst>
          </a:prstGeom>
          <a:solidFill>
            <a:srgbClr val="D4AF37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148840" y="304495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148840" y="313639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143" name="Shape 141"/>
          <p:cNvSpPr/>
          <p:nvPr/>
        </p:nvSpPr>
        <p:spPr>
          <a:xfrm>
            <a:off x="2148840" y="322783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148840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2350008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46" name="Text 144"/>
          <p:cNvSpPr/>
          <p:nvPr/>
        </p:nvSpPr>
        <p:spPr>
          <a:xfrm>
            <a:off x="1993392" y="36850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Empire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1993392" y="38496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600" dirty="0"/>
          </a:p>
        </p:txBody>
      </p:sp>
      <p:sp>
        <p:nvSpPr>
          <p:cNvPr id="148" name="Shape 146"/>
          <p:cNvSpPr/>
          <p:nvPr/>
        </p:nvSpPr>
        <p:spPr>
          <a:xfrm>
            <a:off x="2852928" y="269748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49" name="Shape 147"/>
          <p:cNvSpPr/>
          <p:nvPr/>
        </p:nvSpPr>
        <p:spPr>
          <a:xfrm>
            <a:off x="2852928" y="2697480"/>
            <a:ext cx="749808" cy="54864"/>
          </a:xfrm>
          <a:prstGeom prst="rect">
            <a:avLst>
              <a:gd name="adj" fmla="val 83333"/>
            </a:avLst>
          </a:prstGeom>
          <a:solidFill>
            <a:srgbClr val="22C55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2953512" y="283464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51" name="Shape 149"/>
          <p:cNvSpPr/>
          <p:nvPr/>
        </p:nvSpPr>
        <p:spPr>
          <a:xfrm>
            <a:off x="2953512" y="2834640"/>
            <a:ext cx="548640" cy="137160"/>
          </a:xfrm>
          <a:prstGeom prst="rect">
            <a:avLst>
              <a:gd name="adj" fmla="val 33333"/>
            </a:avLst>
          </a:prstGeom>
          <a:solidFill>
            <a:srgbClr val="22C55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3008376" y="304495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53" name="Shape 151"/>
          <p:cNvSpPr/>
          <p:nvPr/>
        </p:nvSpPr>
        <p:spPr>
          <a:xfrm>
            <a:off x="3008376" y="313639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154" name="Shape 152"/>
          <p:cNvSpPr/>
          <p:nvPr/>
        </p:nvSpPr>
        <p:spPr>
          <a:xfrm>
            <a:off x="3008376" y="322783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55" name="Shape 153"/>
          <p:cNvSpPr/>
          <p:nvPr/>
        </p:nvSpPr>
        <p:spPr>
          <a:xfrm>
            <a:off x="3008376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56" name="Shape 154"/>
          <p:cNvSpPr/>
          <p:nvPr/>
        </p:nvSpPr>
        <p:spPr>
          <a:xfrm>
            <a:off x="3209544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57" name="Text 155"/>
          <p:cNvSpPr/>
          <p:nvPr/>
        </p:nvSpPr>
        <p:spPr>
          <a:xfrm>
            <a:off x="2852928" y="36850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</a:t>
            </a:r>
            <a:endParaRPr lang="en-US" sz="700" dirty="0"/>
          </a:p>
        </p:txBody>
      </p:sp>
      <p:sp>
        <p:nvSpPr>
          <p:cNvPr id="158" name="Text 156"/>
          <p:cNvSpPr/>
          <p:nvPr/>
        </p:nvSpPr>
        <p:spPr>
          <a:xfrm>
            <a:off x="2852928" y="38496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600" dirty="0"/>
          </a:p>
        </p:txBody>
      </p:sp>
      <p:sp>
        <p:nvSpPr>
          <p:cNvPr id="159" name="Shape 157"/>
          <p:cNvSpPr/>
          <p:nvPr/>
        </p:nvSpPr>
        <p:spPr>
          <a:xfrm>
            <a:off x="3712464" y="269748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60" name="Shape 158"/>
          <p:cNvSpPr/>
          <p:nvPr/>
        </p:nvSpPr>
        <p:spPr>
          <a:xfrm>
            <a:off x="3712464" y="2697480"/>
            <a:ext cx="749808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161" name="Shape 159"/>
          <p:cNvSpPr/>
          <p:nvPr/>
        </p:nvSpPr>
        <p:spPr>
          <a:xfrm>
            <a:off x="3813048" y="283464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62" name="Shape 160"/>
          <p:cNvSpPr/>
          <p:nvPr/>
        </p:nvSpPr>
        <p:spPr>
          <a:xfrm>
            <a:off x="3813048" y="2834640"/>
            <a:ext cx="548640" cy="137160"/>
          </a:xfrm>
          <a:prstGeom prst="rect">
            <a:avLst>
              <a:gd name="adj" fmla="val 33333"/>
            </a:avLst>
          </a:prstGeom>
          <a:solidFill>
            <a:srgbClr val="D4AF37"/>
          </a:solidFill>
          <a:ln/>
        </p:spPr>
      </p:sp>
      <p:sp>
        <p:nvSpPr>
          <p:cNvPr id="163" name="Shape 161"/>
          <p:cNvSpPr/>
          <p:nvPr/>
        </p:nvSpPr>
        <p:spPr>
          <a:xfrm>
            <a:off x="3867912" y="304495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64" name="Shape 162"/>
          <p:cNvSpPr/>
          <p:nvPr/>
        </p:nvSpPr>
        <p:spPr>
          <a:xfrm>
            <a:off x="3867912" y="313639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165" name="Shape 163"/>
          <p:cNvSpPr/>
          <p:nvPr/>
        </p:nvSpPr>
        <p:spPr>
          <a:xfrm>
            <a:off x="3867912" y="322783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66" name="Shape 164"/>
          <p:cNvSpPr/>
          <p:nvPr/>
        </p:nvSpPr>
        <p:spPr>
          <a:xfrm>
            <a:off x="3867912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67" name="Shape 165"/>
          <p:cNvSpPr/>
          <p:nvPr/>
        </p:nvSpPr>
        <p:spPr>
          <a:xfrm>
            <a:off x="4069080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68" name="Text 166"/>
          <p:cNvSpPr/>
          <p:nvPr/>
        </p:nvSpPr>
        <p:spPr>
          <a:xfrm>
            <a:off x="3712464" y="36850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3712464" y="38496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600" dirty="0"/>
          </a:p>
        </p:txBody>
      </p:sp>
      <p:sp>
        <p:nvSpPr>
          <p:cNvPr id="170" name="Shape 168"/>
          <p:cNvSpPr/>
          <p:nvPr/>
        </p:nvSpPr>
        <p:spPr>
          <a:xfrm>
            <a:off x="4572000" y="269748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71" name="Shape 169"/>
          <p:cNvSpPr/>
          <p:nvPr/>
        </p:nvSpPr>
        <p:spPr>
          <a:xfrm>
            <a:off x="4572000" y="2697480"/>
            <a:ext cx="749808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172" name="Shape 170"/>
          <p:cNvSpPr/>
          <p:nvPr/>
        </p:nvSpPr>
        <p:spPr>
          <a:xfrm>
            <a:off x="4672584" y="283464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73" name="Shape 171"/>
          <p:cNvSpPr/>
          <p:nvPr/>
        </p:nvSpPr>
        <p:spPr>
          <a:xfrm>
            <a:off x="4672584" y="2834640"/>
            <a:ext cx="548640" cy="137160"/>
          </a:xfrm>
          <a:prstGeom prst="rect">
            <a:avLst>
              <a:gd name="adj" fmla="val 33333"/>
            </a:avLst>
          </a:prstGeom>
          <a:solidFill>
            <a:srgbClr val="D4AF37"/>
          </a:solidFill>
          <a:ln/>
        </p:spPr>
      </p:sp>
      <p:sp>
        <p:nvSpPr>
          <p:cNvPr id="174" name="Shape 172"/>
          <p:cNvSpPr/>
          <p:nvPr/>
        </p:nvSpPr>
        <p:spPr>
          <a:xfrm>
            <a:off x="4727448" y="304495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75" name="Shape 173"/>
          <p:cNvSpPr/>
          <p:nvPr/>
        </p:nvSpPr>
        <p:spPr>
          <a:xfrm>
            <a:off x="4727448" y="313639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176" name="Shape 174"/>
          <p:cNvSpPr/>
          <p:nvPr/>
        </p:nvSpPr>
        <p:spPr>
          <a:xfrm>
            <a:off x="4727448" y="322783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77" name="Shape 175"/>
          <p:cNvSpPr/>
          <p:nvPr/>
        </p:nvSpPr>
        <p:spPr>
          <a:xfrm>
            <a:off x="4727448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78" name="Shape 176"/>
          <p:cNvSpPr/>
          <p:nvPr/>
        </p:nvSpPr>
        <p:spPr>
          <a:xfrm>
            <a:off x="4928616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79" name="Text 177"/>
          <p:cNvSpPr/>
          <p:nvPr/>
        </p:nvSpPr>
        <p:spPr>
          <a:xfrm>
            <a:off x="4572000" y="36850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Eternal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4572000" y="38496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</a:t>
            </a:r>
            <a:endParaRPr lang="en-US" sz="600" dirty="0"/>
          </a:p>
        </p:txBody>
      </p:sp>
      <p:sp>
        <p:nvSpPr>
          <p:cNvPr id="181" name="Shape 179"/>
          <p:cNvSpPr/>
          <p:nvPr/>
        </p:nvSpPr>
        <p:spPr>
          <a:xfrm>
            <a:off x="5431536" y="269748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82" name="Shape 180"/>
          <p:cNvSpPr/>
          <p:nvPr/>
        </p:nvSpPr>
        <p:spPr>
          <a:xfrm>
            <a:off x="5431536" y="2697480"/>
            <a:ext cx="749808" cy="54864"/>
          </a:xfrm>
          <a:prstGeom prst="rect">
            <a:avLst>
              <a:gd name="adj" fmla="val 83333"/>
            </a:avLst>
          </a:prstGeom>
          <a:solidFill>
            <a:srgbClr val="EC4899"/>
          </a:solidFill>
          <a:ln/>
        </p:spPr>
      </p:sp>
      <p:sp>
        <p:nvSpPr>
          <p:cNvPr id="183" name="Shape 181"/>
          <p:cNvSpPr/>
          <p:nvPr/>
        </p:nvSpPr>
        <p:spPr>
          <a:xfrm>
            <a:off x="5532120" y="283464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84" name="Shape 182"/>
          <p:cNvSpPr/>
          <p:nvPr/>
        </p:nvSpPr>
        <p:spPr>
          <a:xfrm>
            <a:off x="5532120" y="2834640"/>
            <a:ext cx="548640" cy="137160"/>
          </a:xfrm>
          <a:prstGeom prst="rect">
            <a:avLst>
              <a:gd name="adj" fmla="val 33333"/>
            </a:avLst>
          </a:prstGeom>
          <a:solidFill>
            <a:srgbClr val="EC4899"/>
          </a:solidFill>
          <a:ln/>
        </p:spPr>
      </p:sp>
      <p:sp>
        <p:nvSpPr>
          <p:cNvPr id="185" name="Shape 183"/>
          <p:cNvSpPr/>
          <p:nvPr/>
        </p:nvSpPr>
        <p:spPr>
          <a:xfrm>
            <a:off x="5586984" y="304495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86" name="Shape 184"/>
          <p:cNvSpPr/>
          <p:nvPr/>
        </p:nvSpPr>
        <p:spPr>
          <a:xfrm>
            <a:off x="5586984" y="313639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187" name="Shape 185"/>
          <p:cNvSpPr/>
          <p:nvPr/>
        </p:nvSpPr>
        <p:spPr>
          <a:xfrm>
            <a:off x="5586984" y="322783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88" name="Shape 186"/>
          <p:cNvSpPr/>
          <p:nvPr/>
        </p:nvSpPr>
        <p:spPr>
          <a:xfrm>
            <a:off x="5586984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89" name="Shape 187"/>
          <p:cNvSpPr/>
          <p:nvPr/>
        </p:nvSpPr>
        <p:spPr>
          <a:xfrm>
            <a:off x="5788152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190" name="Text 188"/>
          <p:cNvSpPr/>
          <p:nvPr/>
        </p:nvSpPr>
        <p:spPr>
          <a:xfrm>
            <a:off x="5431536" y="36850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Blossom</a:t>
            </a:r>
            <a:endParaRPr lang="en-US" sz="700" dirty="0"/>
          </a:p>
        </p:txBody>
      </p:sp>
      <p:sp>
        <p:nvSpPr>
          <p:cNvPr id="191" name="Text 189"/>
          <p:cNvSpPr/>
          <p:nvPr/>
        </p:nvSpPr>
        <p:spPr>
          <a:xfrm>
            <a:off x="5431536" y="38496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</a:t>
            </a:r>
            <a:endParaRPr lang="en-US" sz="600" dirty="0"/>
          </a:p>
        </p:txBody>
      </p:sp>
      <p:sp>
        <p:nvSpPr>
          <p:cNvPr id="192" name="Shape 190"/>
          <p:cNvSpPr/>
          <p:nvPr/>
        </p:nvSpPr>
        <p:spPr>
          <a:xfrm>
            <a:off x="6291072" y="269748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93" name="Shape 191"/>
          <p:cNvSpPr/>
          <p:nvPr/>
        </p:nvSpPr>
        <p:spPr>
          <a:xfrm>
            <a:off x="6291072" y="2697480"/>
            <a:ext cx="749808" cy="54864"/>
          </a:xfrm>
          <a:prstGeom prst="rect">
            <a:avLst>
              <a:gd name="adj" fmla="val 83333"/>
            </a:avLst>
          </a:prstGeom>
          <a:solidFill>
            <a:srgbClr val="CCCCCC"/>
          </a:solidFill>
          <a:ln/>
        </p:spPr>
      </p:sp>
      <p:sp>
        <p:nvSpPr>
          <p:cNvPr id="194" name="Shape 192"/>
          <p:cNvSpPr/>
          <p:nvPr/>
        </p:nvSpPr>
        <p:spPr>
          <a:xfrm>
            <a:off x="6391656" y="283464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95" name="Shape 193"/>
          <p:cNvSpPr/>
          <p:nvPr/>
        </p:nvSpPr>
        <p:spPr>
          <a:xfrm>
            <a:off x="6391656" y="2834640"/>
            <a:ext cx="548640" cy="137160"/>
          </a:xfrm>
          <a:prstGeom prst="rect">
            <a:avLst>
              <a:gd name="adj" fmla="val 33333"/>
            </a:avLst>
          </a:prstGeom>
          <a:solidFill>
            <a:srgbClr val="CCCCCC"/>
          </a:solidFill>
          <a:ln/>
        </p:spPr>
      </p:sp>
      <p:sp>
        <p:nvSpPr>
          <p:cNvPr id="196" name="Shape 194"/>
          <p:cNvSpPr/>
          <p:nvPr/>
        </p:nvSpPr>
        <p:spPr>
          <a:xfrm>
            <a:off x="6446520" y="304495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97" name="Shape 195"/>
          <p:cNvSpPr/>
          <p:nvPr/>
        </p:nvSpPr>
        <p:spPr>
          <a:xfrm>
            <a:off x="6446520" y="313639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198" name="Shape 196"/>
          <p:cNvSpPr/>
          <p:nvPr/>
        </p:nvSpPr>
        <p:spPr>
          <a:xfrm>
            <a:off x="6446520" y="322783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199" name="Shape 197"/>
          <p:cNvSpPr/>
          <p:nvPr/>
        </p:nvSpPr>
        <p:spPr>
          <a:xfrm>
            <a:off x="6446520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200" name="Shape 198"/>
          <p:cNvSpPr/>
          <p:nvPr/>
        </p:nvSpPr>
        <p:spPr>
          <a:xfrm>
            <a:off x="6647688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201" name="Text 199"/>
          <p:cNvSpPr/>
          <p:nvPr/>
        </p:nvSpPr>
        <p:spPr>
          <a:xfrm>
            <a:off x="6291072" y="36850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Noir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6291072" y="38496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</a:t>
            </a:r>
            <a:endParaRPr lang="en-US" sz="600" dirty="0"/>
          </a:p>
        </p:txBody>
      </p:sp>
      <p:sp>
        <p:nvSpPr>
          <p:cNvPr id="203" name="Shape 201"/>
          <p:cNvSpPr/>
          <p:nvPr/>
        </p:nvSpPr>
        <p:spPr>
          <a:xfrm>
            <a:off x="7150608" y="269748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204" name="Shape 202"/>
          <p:cNvSpPr/>
          <p:nvPr/>
        </p:nvSpPr>
        <p:spPr>
          <a:xfrm>
            <a:off x="7150608" y="2697480"/>
            <a:ext cx="749808" cy="54864"/>
          </a:xfrm>
          <a:prstGeom prst="rect">
            <a:avLst>
              <a:gd name="adj" fmla="val 83333"/>
            </a:avLst>
          </a:prstGeom>
          <a:solidFill>
            <a:srgbClr val="8B5CF6"/>
          </a:solidFill>
          <a:ln/>
        </p:spPr>
      </p:sp>
      <p:sp>
        <p:nvSpPr>
          <p:cNvPr id="205" name="Shape 203"/>
          <p:cNvSpPr/>
          <p:nvPr/>
        </p:nvSpPr>
        <p:spPr>
          <a:xfrm>
            <a:off x="7251192" y="283464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206" name="Shape 204"/>
          <p:cNvSpPr/>
          <p:nvPr/>
        </p:nvSpPr>
        <p:spPr>
          <a:xfrm>
            <a:off x="7251192" y="2834640"/>
            <a:ext cx="548640" cy="137160"/>
          </a:xfrm>
          <a:prstGeom prst="rect">
            <a:avLst>
              <a:gd name="adj" fmla="val 33333"/>
            </a:avLst>
          </a:prstGeom>
          <a:solidFill>
            <a:srgbClr val="8B5CF6"/>
          </a:solidFill>
          <a:ln/>
        </p:spPr>
      </p:sp>
      <p:sp>
        <p:nvSpPr>
          <p:cNvPr id="207" name="Shape 205"/>
          <p:cNvSpPr/>
          <p:nvPr/>
        </p:nvSpPr>
        <p:spPr>
          <a:xfrm>
            <a:off x="7306056" y="304495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208" name="Shape 206"/>
          <p:cNvSpPr/>
          <p:nvPr/>
        </p:nvSpPr>
        <p:spPr>
          <a:xfrm>
            <a:off x="7306056" y="313639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209" name="Shape 207"/>
          <p:cNvSpPr/>
          <p:nvPr/>
        </p:nvSpPr>
        <p:spPr>
          <a:xfrm>
            <a:off x="7306056" y="322783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210" name="Shape 208"/>
          <p:cNvSpPr/>
          <p:nvPr/>
        </p:nvSpPr>
        <p:spPr>
          <a:xfrm>
            <a:off x="7306056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211" name="Shape 209"/>
          <p:cNvSpPr/>
          <p:nvPr/>
        </p:nvSpPr>
        <p:spPr>
          <a:xfrm>
            <a:off x="7507224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212" name="Text 210"/>
          <p:cNvSpPr/>
          <p:nvPr/>
        </p:nvSpPr>
        <p:spPr>
          <a:xfrm>
            <a:off x="7150608" y="36850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Celestial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7150608" y="38496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</a:t>
            </a:r>
            <a:endParaRPr lang="en-US" sz="600" dirty="0"/>
          </a:p>
        </p:txBody>
      </p:sp>
      <p:sp>
        <p:nvSpPr>
          <p:cNvPr id="214" name="Shape 212"/>
          <p:cNvSpPr/>
          <p:nvPr/>
        </p:nvSpPr>
        <p:spPr>
          <a:xfrm>
            <a:off x="8010144" y="2697480"/>
            <a:ext cx="749808" cy="137160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215" name="Shape 213"/>
          <p:cNvSpPr/>
          <p:nvPr/>
        </p:nvSpPr>
        <p:spPr>
          <a:xfrm>
            <a:off x="8010144" y="2697480"/>
            <a:ext cx="749808" cy="54864"/>
          </a:xfrm>
          <a:prstGeom prst="rect">
            <a:avLst>
              <a:gd name="adj" fmla="val 83333"/>
            </a:avLst>
          </a:prstGeom>
          <a:solidFill>
            <a:srgbClr val="F97316"/>
          </a:solidFill>
          <a:ln/>
        </p:spPr>
      </p:sp>
      <p:sp>
        <p:nvSpPr>
          <p:cNvPr id="216" name="Shape 214"/>
          <p:cNvSpPr/>
          <p:nvPr/>
        </p:nvSpPr>
        <p:spPr>
          <a:xfrm>
            <a:off x="8110728" y="2834640"/>
            <a:ext cx="548640" cy="82296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217" name="Shape 215"/>
          <p:cNvSpPr/>
          <p:nvPr/>
        </p:nvSpPr>
        <p:spPr>
          <a:xfrm>
            <a:off x="8110728" y="2834640"/>
            <a:ext cx="548640" cy="137160"/>
          </a:xfrm>
          <a:prstGeom prst="rect">
            <a:avLst>
              <a:gd name="adj" fmla="val 33333"/>
            </a:avLst>
          </a:prstGeom>
          <a:solidFill>
            <a:srgbClr val="F97316"/>
          </a:solidFill>
          <a:ln/>
        </p:spPr>
      </p:sp>
      <p:sp>
        <p:nvSpPr>
          <p:cNvPr id="218" name="Shape 216"/>
          <p:cNvSpPr/>
          <p:nvPr/>
        </p:nvSpPr>
        <p:spPr>
          <a:xfrm>
            <a:off x="8165592" y="3044952"/>
            <a:ext cx="438912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219" name="Shape 217"/>
          <p:cNvSpPr/>
          <p:nvPr/>
        </p:nvSpPr>
        <p:spPr>
          <a:xfrm>
            <a:off x="8165592" y="3136392"/>
            <a:ext cx="329184" cy="54864"/>
          </a:xfrm>
          <a:prstGeom prst="rect">
            <a:avLst>
              <a:gd name="adj" fmla="val 83333"/>
            </a:avLst>
          </a:prstGeom>
          <a:solidFill>
            <a:srgbClr val="555555"/>
          </a:solidFill>
          <a:ln/>
        </p:spPr>
      </p:sp>
      <p:sp>
        <p:nvSpPr>
          <p:cNvPr id="220" name="Shape 218"/>
          <p:cNvSpPr/>
          <p:nvPr/>
        </p:nvSpPr>
        <p:spPr>
          <a:xfrm>
            <a:off x="8165592" y="3227832"/>
            <a:ext cx="384048" cy="54864"/>
          </a:xfrm>
          <a:prstGeom prst="rect">
            <a:avLst>
              <a:gd name="adj" fmla="val 83333"/>
            </a:avLst>
          </a:prstGeom>
          <a:solidFill>
            <a:srgbClr val="333333"/>
          </a:solidFill>
          <a:ln/>
        </p:spPr>
      </p:sp>
      <p:sp>
        <p:nvSpPr>
          <p:cNvPr id="221" name="Shape 219"/>
          <p:cNvSpPr/>
          <p:nvPr/>
        </p:nvSpPr>
        <p:spPr>
          <a:xfrm>
            <a:off x="8165592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222" name="Shape 220"/>
          <p:cNvSpPr/>
          <p:nvPr/>
        </p:nvSpPr>
        <p:spPr>
          <a:xfrm>
            <a:off x="8366760" y="3355848"/>
            <a:ext cx="182880" cy="91440"/>
          </a:xfrm>
          <a:prstGeom prst="rect">
            <a:avLst>
              <a:gd name="adj" fmla="val 50000"/>
            </a:avLst>
          </a:prstGeom>
          <a:solidFill>
            <a:srgbClr val="333333"/>
          </a:solidFill>
          <a:ln/>
        </p:spPr>
      </p:sp>
      <p:sp>
        <p:nvSpPr>
          <p:cNvPr id="223" name="Text 221"/>
          <p:cNvSpPr/>
          <p:nvPr/>
        </p:nvSpPr>
        <p:spPr>
          <a:xfrm>
            <a:off x="8010144" y="36850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Rustic</a:t>
            </a:r>
            <a:endParaRPr lang="en-US" sz="700" dirty="0"/>
          </a:p>
        </p:txBody>
      </p:sp>
      <p:sp>
        <p:nvSpPr>
          <p:cNvPr id="224" name="Text 222"/>
          <p:cNvSpPr/>
          <p:nvPr/>
        </p:nvSpPr>
        <p:spPr>
          <a:xfrm>
            <a:off x="8010144" y="3849624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— Fill Your Content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0" cy="3474720"/>
          </a:xfrm>
          <a:prstGeom prst="rect">
            <a:avLst>
              <a:gd name="adj" fmla="val 1316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4114800" cy="365760"/>
          </a:xfrm>
          <a:prstGeom prst="rect">
            <a:avLst>
              <a:gd name="adj" fmla="val 12500"/>
            </a:avLst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Profile Editor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1810512"/>
            <a:ext cx="3200400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81051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 Ki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" y="2359152"/>
            <a:ext cx="3200400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3591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Developer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26517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651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4400" y="2907792"/>
            <a:ext cx="3200400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9077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WeTech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080" y="32004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2004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14400" y="3456432"/>
            <a:ext cx="3200400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4564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Ipsum...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749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14400" y="4005072"/>
            <a:ext cx="3200400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0050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Lorem Ipsum is...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1051560"/>
            <a:ext cx="3840480" cy="822960"/>
          </a:xfrm>
          <a:prstGeom prst="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29" name="Shape 27"/>
          <p:cNvSpPr/>
          <p:nvPr/>
        </p:nvSpPr>
        <p:spPr>
          <a:xfrm>
            <a:off x="4846320" y="1051560"/>
            <a:ext cx="36576" cy="822960"/>
          </a:xfrm>
          <a:prstGeom prst="rect">
            <a:avLst>
              <a:gd name="adj" fmla="val 125000"/>
            </a:avLst>
          </a:prstGeom>
          <a:solidFill>
            <a:srgbClr val="D4AF37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161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11430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 Upload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1508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&amp; drop or click. Stored locally or Cloudflare R2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2011680"/>
            <a:ext cx="3840480" cy="822960"/>
          </a:xfrm>
          <a:prstGeom prst="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6320" y="2011680"/>
            <a:ext cx="36576" cy="822960"/>
          </a:xfrm>
          <a:prstGeom prst="rect">
            <a:avLst>
              <a:gd name="adj" fmla="val 125000"/>
            </a:avLst>
          </a:prstGeom>
          <a:solidFill>
            <a:srgbClr val="EC4899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40680" y="2103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 Color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picker to personalize your template theme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971800"/>
            <a:ext cx="3840480" cy="822960"/>
          </a:xfrm>
          <a:prstGeom prst="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39" name="Shape 37"/>
          <p:cNvSpPr/>
          <p:nvPr/>
        </p:nvSpPr>
        <p:spPr>
          <a:xfrm>
            <a:off x="4846320" y="2971800"/>
            <a:ext cx="36576" cy="822960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0" y="3081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40680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Limits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0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X/Y counters, red warning at &gt;90% usage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3931920"/>
            <a:ext cx="3840480" cy="822960"/>
          </a:xfrm>
          <a:prstGeom prst="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44" name="Shape 42"/>
          <p:cNvSpPr/>
          <p:nvPr/>
        </p:nvSpPr>
        <p:spPr>
          <a:xfrm>
            <a:off x="4846320" y="3931920"/>
            <a:ext cx="36576" cy="822960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0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40680" y="4023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Links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4389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LinkedIn, GitHub, Instagram, TikTok, Discord, + more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Management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customize, download, and share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Generation &amp; Download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743200" cy="3200400"/>
          </a:xfrm>
          <a:prstGeom prst="rect">
            <a:avLst>
              <a:gd name="adj" fmla="val 1667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QR Preview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1737360"/>
            <a:ext cx="164592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82880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9" name="Shape 7"/>
          <p:cNvSpPr/>
          <p:nvPr/>
        </p:nvSpPr>
        <p:spPr>
          <a:xfrm>
            <a:off x="1335024" y="182880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0" name="Shape 8"/>
          <p:cNvSpPr/>
          <p:nvPr/>
        </p:nvSpPr>
        <p:spPr>
          <a:xfrm>
            <a:off x="1810512" y="182880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1" name="Shape 9"/>
          <p:cNvSpPr/>
          <p:nvPr/>
        </p:nvSpPr>
        <p:spPr>
          <a:xfrm>
            <a:off x="2048256" y="182880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182880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2066544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4" name="Shape 12"/>
          <p:cNvSpPr/>
          <p:nvPr/>
        </p:nvSpPr>
        <p:spPr>
          <a:xfrm>
            <a:off x="1335024" y="2066544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1572768" y="2066544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48256" y="2066544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2066544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1335024" y="2304288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48256" y="2304288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" y="2542032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1" name="Shape 19"/>
          <p:cNvSpPr/>
          <p:nvPr/>
        </p:nvSpPr>
        <p:spPr>
          <a:xfrm>
            <a:off x="1810512" y="2542032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" y="2779776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1335024" y="2779776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1572768" y="2779776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2779776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7280" y="301752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7" name="Shape 25"/>
          <p:cNvSpPr/>
          <p:nvPr/>
        </p:nvSpPr>
        <p:spPr>
          <a:xfrm>
            <a:off x="1335024" y="301752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48256" y="301752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nexcard.io/your-slug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Options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0" y="1645920"/>
            <a:ext cx="4754880" cy="640080"/>
          </a:xfrm>
          <a:prstGeom prst="rect">
            <a:avLst>
              <a:gd name="adj" fmla="val 7143"/>
            </a:avLst>
          </a:prstGeom>
          <a:solidFill>
            <a:srgbClr val="1A1A1A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0" y="1645920"/>
            <a:ext cx="36576" cy="640080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389120" y="1691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9120" y="1965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digital use, social media, websites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0" y="2423160"/>
            <a:ext cx="4754880" cy="640080"/>
          </a:xfrm>
          <a:prstGeom prst="rect">
            <a:avLst>
              <a:gd name="adj" fmla="val 7143"/>
            </a:avLst>
          </a:prstGeom>
          <a:solidFill>
            <a:srgbClr val="1A1A1A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2423160"/>
            <a:ext cx="36576" cy="640080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38912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89120" y="2743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print, scalable without quality loss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0" y="3200400"/>
            <a:ext cx="4754880" cy="640080"/>
          </a:xfrm>
          <a:prstGeom prst="rect">
            <a:avLst>
              <a:gd name="adj" fmla="val 7143"/>
            </a:avLst>
          </a:prstGeom>
          <a:solidFill>
            <a:srgbClr val="1A1A1A"/>
          </a:solidFill>
          <a:ln/>
        </p:spPr>
      </p:sp>
      <p:sp>
        <p:nvSpPr>
          <p:cNvPr id="42" name="Shape 40"/>
          <p:cNvSpPr/>
          <p:nvPr/>
        </p:nvSpPr>
        <p:spPr>
          <a:xfrm>
            <a:off x="3657600" y="3200400"/>
            <a:ext cx="36576" cy="640080"/>
          </a:xfrm>
          <a:prstGeom prst="rect">
            <a:avLst>
              <a:gd name="adj" fmla="val 125000"/>
            </a:avLst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389120" y="3246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JPEG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389120" y="3520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email, lightweight sharing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Filename: nexcard-{yourname}-qr.{format}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Username sanitized (special characters removed)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0" y="4754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Cache-busting with timestamp prevents stale images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Insights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profile views, QR scans, and engagement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645920" cy="822960"/>
          </a:xfrm>
          <a:prstGeom prst="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Views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1645920" cy="822960"/>
          </a:xfrm>
          <a:prstGeom prst="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188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7280"/>
            <a:ext cx="1645920" cy="822960"/>
          </a:xfrm>
          <a:prstGeom prst="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188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1097280"/>
            <a:ext cx="1645920" cy="822960"/>
          </a:xfrm>
          <a:prstGeom prst="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188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4.2min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Time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0" y="1097280"/>
            <a:ext cx="1188720" cy="822960"/>
          </a:xfrm>
          <a:prstGeom prst="rect">
            <a:avLst>
              <a:gd name="adj" fmla="val 5556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1188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12%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0" y="1645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8229600" cy="2286000"/>
          </a:xfrm>
          <a:prstGeom prst="rect">
            <a:avLst>
              <a:gd name="adj" fmla="val 2000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Views Over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3657600"/>
            <a:ext cx="411480" cy="54864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463040" y="3383280"/>
            <a:ext cx="411480" cy="82296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103120" y="3566160"/>
            <a:ext cx="411480" cy="64008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205740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2743200" y="3108960"/>
            <a:ext cx="411480" cy="109728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269748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383280" y="3291840"/>
            <a:ext cx="411480" cy="91440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4023360" y="2834640"/>
            <a:ext cx="411480" cy="137160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397764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4663440" y="3017520"/>
            <a:ext cx="411480" cy="118872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461772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5303520" y="2560320"/>
            <a:ext cx="411480" cy="164592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25780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5943600" y="2926080"/>
            <a:ext cx="411480" cy="128016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589788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6583680" y="2743200"/>
            <a:ext cx="411480" cy="146304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7223760" y="2468880"/>
            <a:ext cx="411480" cy="1737360"/>
          </a:xfrm>
          <a:prstGeom prst="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717804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7863840" y="2377440"/>
            <a:ext cx="411480" cy="1828800"/>
          </a:xfrm>
          <a:prstGeom prst="rect">
            <a:avLst>
              <a:gd name="adj" fmla="val 11111"/>
            </a:avLst>
          </a:prstGeom>
          <a:solidFill>
            <a:srgbClr val="D4AF37"/>
          </a:solidFill>
          <a:ln/>
        </p:spPr>
      </p:sp>
      <p:sp>
        <p:nvSpPr>
          <p:cNvPr id="45" name="Text 43"/>
          <p:cNvSpPr/>
          <p:nvPr/>
        </p:nvSpPr>
        <p:spPr>
          <a:xfrm>
            <a:off x="7818120" y="425196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8B5C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Tag Programming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profile URL for tap-to-share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Tag Setup Process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35331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18872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NFC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1737360"/>
            <a:ext cx="2743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arrow"/>
          </a:ln>
        </p:spPr>
      </p:sp>
      <p:sp>
        <p:nvSpPr>
          <p:cNvPr id="11" name="Shape 9"/>
          <p:cNvSpPr/>
          <p:nvPr/>
        </p:nvSpPr>
        <p:spPr>
          <a:xfrm>
            <a:off x="2286000" y="137160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2267712" y="135331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18872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228600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Page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1880" y="1737360"/>
            <a:ext cx="2743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arrow"/>
          </a:ln>
        </p:spPr>
      </p:sp>
      <p:sp>
        <p:nvSpPr>
          <p:cNvPr id="17" name="Shape 15"/>
          <p:cNvSpPr/>
          <p:nvPr/>
        </p:nvSpPr>
        <p:spPr>
          <a:xfrm>
            <a:off x="3931920" y="137160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3913632" y="135331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118872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60" dirty="0"/>
          </a:p>
        </p:txBody>
      </p:sp>
      <p:sp>
        <p:nvSpPr>
          <p:cNvPr id="21" name="Text 19"/>
          <p:cNvSpPr/>
          <p:nvPr/>
        </p:nvSpPr>
        <p:spPr>
          <a:xfrm>
            <a:off x="393192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Phone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Tag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57800" y="1737360"/>
            <a:ext cx="2743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arrow"/>
          </a:ln>
        </p:spPr>
      </p:sp>
      <p:sp>
        <p:nvSpPr>
          <p:cNvPr id="23" name="Shape 21"/>
          <p:cNvSpPr/>
          <p:nvPr/>
        </p:nvSpPr>
        <p:spPr>
          <a:xfrm>
            <a:off x="5577840" y="137160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5559552" y="135331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118872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560" dirty="0"/>
          </a:p>
        </p:txBody>
      </p:sp>
      <p:sp>
        <p:nvSpPr>
          <p:cNvPr id="27" name="Text 25"/>
          <p:cNvSpPr/>
          <p:nvPr/>
        </p:nvSpPr>
        <p:spPr>
          <a:xfrm>
            <a:off x="557784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NFC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URL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1737360"/>
            <a:ext cx="2743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headEnd type="arrow"/>
          </a:ln>
        </p:spPr>
      </p:sp>
      <p:sp>
        <p:nvSpPr>
          <p:cNvPr id="29" name="Shape 27"/>
          <p:cNvSpPr/>
          <p:nvPr/>
        </p:nvSpPr>
        <p:spPr>
          <a:xfrm>
            <a:off x="7223760" y="1371600"/>
            <a:ext cx="128016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7205472" y="1353312"/>
            <a:ext cx="1316736" cy="768096"/>
          </a:xfrm>
          <a:prstGeom prst="rect">
            <a:avLst>
              <a:gd name="adj" fmla="val 9524"/>
            </a:avLst>
          </a:prstGeom>
          <a:solidFill>
            <a:srgbClr val="0F0F0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118872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772668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560" dirty="0"/>
          </a:p>
        </p:txBody>
      </p:sp>
      <p:sp>
        <p:nvSpPr>
          <p:cNvPr id="33" name="Text 31"/>
          <p:cNvSpPr/>
          <p:nvPr/>
        </p:nvSpPr>
        <p:spPr>
          <a:xfrm>
            <a:off x="7223760" y="15087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by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Tapping Again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2743200"/>
            <a:ext cx="3657600" cy="2011680"/>
          </a:xfrm>
          <a:prstGeom prst="rect">
            <a:avLst>
              <a:gd name="adj" fmla="val 2273"/>
            </a:avLst>
          </a:prstGeom>
          <a:solidFill>
            <a:srgbClr val="1A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NFC Tag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45920" y="3383280"/>
            <a:ext cx="1097280" cy="10972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1645920" y="33832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NTAG213/215/216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7200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Compatible tags: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NTAG213 (144 bytes) — most common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3383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NTAG215 (504 bytes) — more storage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0" y="3703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NTAG216 (888 bytes) — maximum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4343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Device support: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0" y="4663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Android: Chrome browser (Web NFC API)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0" y="4983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iOS: Use "NFC Tools" app to write URL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0" y="5303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0" y="5623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Works with any NFC-enabled phone to read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Dark/gold and light/navy dual themes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Theme System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200400"/>
          </a:xfrm>
          <a:prstGeom prst="rect">
            <a:avLst>
              <a:gd name="adj" fmla="val 1429"/>
            </a:avLst>
          </a:prstGeom>
          <a:solidFill>
            <a:srgbClr val="0F0F0F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65760"/>
          </a:xfrm>
          <a:prstGeom prst="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Dark Mode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 Ki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Developer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3200400" cy="274320"/>
          </a:xfrm>
          <a:prstGeom prst="rect">
            <a:avLst>
              <a:gd name="adj" fmla="val 16667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Save Contact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200400" cy="9144"/>
          </a:xfrm>
          <a:prstGeom prst="rect">
            <a:avLst>
              <a:gd name="adj" fmla="val 500000"/>
            </a:avLst>
          </a:prstGeom>
          <a:solidFill>
            <a:srgbClr val="333333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017520"/>
            <a:ext cx="320040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383280"/>
            <a:ext cx="3200400" cy="274320"/>
          </a:xfrm>
          <a:prstGeom prst="rect">
            <a:avLst>
              <a:gd name="adj" fmla="val 16667"/>
            </a:avLst>
          </a:prstGeom>
          <a:solidFill>
            <a:srgbClr val="14141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749040"/>
            <a:ext cx="3200400" cy="274320"/>
          </a:xfrm>
          <a:prstGeom prst="rect">
            <a:avLst>
              <a:gd name="adj" fmla="val 16667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14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#0F0F0F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114800" cy="3200400"/>
          </a:xfrm>
          <a:prstGeom prst="rect">
            <a:avLst>
              <a:gd name="adj" fmla="val 1429"/>
            </a:avLst>
          </a:prstGeom>
          <a:solidFill>
            <a:srgbClr val="FAFA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097280"/>
            <a:ext cx="4114800" cy="365760"/>
          </a:xfrm>
          <a:prstGeom prst="rect">
            <a:avLst>
              <a:gd name="adj" fmla="val 12500"/>
            </a:avLst>
          </a:prstGeom>
          <a:solidFill>
            <a:srgbClr val="F0F0EE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1155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Light Mode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164592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 Ki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Developer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0" y="2377440"/>
            <a:ext cx="3200400" cy="274320"/>
          </a:xfrm>
          <a:prstGeom prst="rect">
            <a:avLst>
              <a:gd name="adj" fmla="val 16667"/>
            </a:avLst>
          </a:pr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Save Contact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0" y="2834640"/>
            <a:ext cx="3200400" cy="9144"/>
          </a:xfrm>
          <a:prstGeom prst="rect">
            <a:avLst>
              <a:gd name="adj" fmla="val 500000"/>
            </a:avLst>
          </a:prstGeom>
          <a:solidFill>
            <a:srgbClr val="DDDDDD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0" y="3017520"/>
            <a:ext cx="3200400" cy="274320"/>
          </a:xfrm>
          <a:prstGeom prst="rect">
            <a:avLst>
              <a:gd name="adj" fmla="val 16667"/>
            </a:avLst>
          </a:prstGeom>
          <a:solidFill>
            <a:srgbClr val="F0F0EE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3383280"/>
            <a:ext cx="3200400" cy="274320"/>
          </a:xfrm>
          <a:prstGeom prst="rect">
            <a:avLst>
              <a:gd name="adj" fmla="val 16667"/>
            </a:avLst>
          </a:prstGeom>
          <a:solidFill>
            <a:srgbClr val="FAFAF8"/>
          </a:solidFill>
          <a:ln/>
        </p:spPr>
      </p:sp>
      <p:sp>
        <p:nvSpPr>
          <p:cNvPr id="29" name="Shape 27"/>
          <p:cNvSpPr/>
          <p:nvPr/>
        </p:nvSpPr>
        <p:spPr>
          <a:xfrm>
            <a:off x="5029200" y="3749040"/>
            <a:ext cx="3200400" cy="274320"/>
          </a:xfrm>
          <a:prstGeom prst="rect">
            <a:avLst>
              <a:gd name="adj" fmla="val 16667"/>
            </a:avLst>
          </a:prstGeom>
          <a:solidFill>
            <a:srgbClr val="F0F0EE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4114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Background: #FAFAF8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20624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Mode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Platform-wide maintenance with admin bypass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Mode — How It Works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2286000" cy="109728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Admin Settings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data/settings.json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maintenance_mode: true }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834640" y="1737360"/>
            <a:ext cx="5486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arrow"/>
          </a:ln>
        </p:spPr>
      </p:sp>
      <p:sp>
        <p:nvSpPr>
          <p:cNvPr id="9" name="Shape 7"/>
          <p:cNvSpPr/>
          <p:nvPr/>
        </p:nvSpPr>
        <p:spPr>
          <a:xfrm>
            <a:off x="3474720" y="1188720"/>
            <a:ext cx="1828800" cy="109728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Root Layout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fs.readFileSync()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settings.json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394960" y="1737360"/>
            <a:ext cx="5486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arrow"/>
          </a:ln>
        </p:spPr>
      </p:sp>
      <p:sp>
        <p:nvSpPr>
          <p:cNvPr id="13" name="Shape 11"/>
          <p:cNvSpPr/>
          <p:nvPr/>
        </p:nvSpPr>
        <p:spPr>
          <a:xfrm>
            <a:off x="6035040" y="1188720"/>
            <a:ext cx="1828800" cy="109728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MaintenanceGuard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1554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component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redirects non-admins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5486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arrow"/>
          </a:ln>
        </p:spPr>
      </p:sp>
      <p:sp>
        <p:nvSpPr>
          <p:cNvPr id="17" name="Shape 15"/>
          <p:cNvSpPr/>
          <p:nvPr/>
        </p:nvSpPr>
        <p:spPr>
          <a:xfrm>
            <a:off x="8229600" y="1188720"/>
            <a:ext cx="731520" cy="1097280"/>
          </a:xfrm>
          <a:prstGeom prst="rect">
            <a:avLst>
              <a:gd name="adj" fmla="val 6250"/>
            </a:avLst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371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1828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720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393192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Regular User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2918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Redirected to /maintenance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Sees animated dark page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Floating orbs + spinning gear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"We'll be back soon" message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2926080"/>
            <a:ext cx="3931920" cy="1645920"/>
          </a:xfrm>
          <a:prstGeom prst="rect">
            <a:avLst>
              <a:gd name="adj" fmla="val 2778"/>
            </a:avLst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971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 Admin User (role: ADMIN)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32918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Bypasses maintenance check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Sees normal site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Can edit settings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Full platform access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management, templates, users, and settings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1463040" cy="3657600"/>
          </a:xfrm>
          <a:prstGeom prst="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146304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ADMIN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1463040" cy="365760"/>
          </a:xfrm>
          <a:prstGeom prst="rect">
            <a:avLst>
              <a:gd name="adj" fmla="val 12500"/>
            </a:avLst>
          </a:prstGeom>
          <a:solidFill>
            <a:srgbClr val="3D320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08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911096"/>
            <a:ext cx="1463040" cy="365760"/>
          </a:xfrm>
          <a:prstGeom prst="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110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Users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313432"/>
            <a:ext cx="1463040" cy="365760"/>
          </a:xfrm>
          <a:prstGeom prst="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3134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Templates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715768"/>
            <a:ext cx="1463040" cy="365760"/>
          </a:xfrm>
          <a:prstGeom prst="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1576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Payments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3118104"/>
            <a:ext cx="1463040" cy="365760"/>
          </a:xfrm>
          <a:prstGeom prst="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11810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Analytics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" y="3520440"/>
            <a:ext cx="1463040" cy="365760"/>
          </a:xfrm>
          <a:prstGeom prst="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5204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Settings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922776"/>
            <a:ext cx="1463040" cy="365760"/>
          </a:xfrm>
          <a:prstGeom prst="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92277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Backups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11680" y="1097280"/>
            <a:ext cx="1920240" cy="777240"/>
          </a:xfrm>
          <a:prstGeom prst="rect">
            <a:avLst>
              <a:gd name="adj" fmla="val 5882"/>
            </a:avLst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01168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0" y="1097280"/>
            <a:ext cx="1920240" cy="777240"/>
          </a:xfrm>
          <a:prstGeom prst="rect">
            <a:avLst>
              <a:gd name="adj" fmla="val 5882"/>
            </a:avLst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3,891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11480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097280"/>
            <a:ext cx="1920240" cy="777240"/>
          </a:xfrm>
          <a:prstGeom prst="rect">
            <a:avLst>
              <a:gd name="adj" fmla="val 5882"/>
            </a:avLst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188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$12.4K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217920" y="16459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0" y="2103120"/>
            <a:ext cx="301752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32" name="Shape 30"/>
          <p:cNvSpPr/>
          <p:nvPr/>
        </p:nvSpPr>
        <p:spPr>
          <a:xfrm>
            <a:off x="2011680" y="2103120"/>
            <a:ext cx="36576" cy="1371600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219456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606040" y="21945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94560" y="25603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users, change roles (ADMIN/USER), activate/deactivate accounts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212080" y="2103120"/>
            <a:ext cx="347472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37" name="Shape 35"/>
          <p:cNvSpPr/>
          <p:nvPr/>
        </p:nvSpPr>
        <p:spPr>
          <a:xfrm>
            <a:off x="5212080" y="2103120"/>
            <a:ext cx="36576" cy="1371600"/>
          </a:xfrm>
          <a:prstGeom prst="rect">
            <a:avLst>
              <a:gd name="adj" fmla="val 125000"/>
            </a:avLst>
          </a:prstGeom>
          <a:solidFill>
            <a:srgbClr val="EC4899"/>
          </a:solidFill>
          <a:ln/>
        </p:spPr>
      </p:sp>
      <p:sp>
        <p:nvSpPr>
          <p:cNvPr id="38" name="Text 36"/>
          <p:cNvSpPr/>
          <p:nvPr/>
        </p:nvSpPr>
        <p:spPr>
          <a:xfrm>
            <a:off x="539496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80644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Management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94960" y="25603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Add/edit templates, toggle active status, set accent colors, manage categories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0" y="3657600"/>
            <a:ext cx="3017520" cy="109728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42" name="Shape 40"/>
          <p:cNvSpPr/>
          <p:nvPr/>
        </p:nvSpPr>
        <p:spPr>
          <a:xfrm>
            <a:off x="2011680" y="3657600"/>
            <a:ext cx="36576" cy="1097280"/>
          </a:xfrm>
          <a:prstGeom prst="rect">
            <a:avLst>
              <a:gd name="adj" fmla="val 125000"/>
            </a:avLst>
          </a:prstGeom>
          <a:solidFill>
            <a:srgbClr val="D4AF37"/>
          </a:solidFill>
          <a:ln/>
        </p:spPr>
      </p:sp>
      <p:sp>
        <p:nvSpPr>
          <p:cNvPr id="43" name="Text 41"/>
          <p:cNvSpPr/>
          <p:nvPr/>
        </p:nvSpPr>
        <p:spPr>
          <a:xfrm>
            <a:off x="219456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2606040" y="3749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Settings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194560" y="4114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JSON-based config: maintenance, SMTP, payment gateway, platform name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12080" y="3657600"/>
            <a:ext cx="3474720" cy="109728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47" name="Shape 45"/>
          <p:cNvSpPr/>
          <p:nvPr/>
        </p:nvSpPr>
        <p:spPr>
          <a:xfrm>
            <a:off x="5212080" y="3657600"/>
            <a:ext cx="36576" cy="1097280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48" name="Text 46"/>
          <p:cNvSpPr/>
          <p:nvPr/>
        </p:nvSpPr>
        <p:spPr>
          <a:xfrm>
            <a:off x="539496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806440" y="3749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Backups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94960" y="41148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dump + gzip + email delivery. Weekly Vercel cron (Mon 8am UTC)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Pages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Policy, Terms of Service, Cookie Policy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Pages Structure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457200"/>
          </a:xfrm>
          <a:prstGeom prst="rect">
            <a:avLst>
              <a:gd name="adj" fmla="val 10000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/legal — Hub Page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51760" cy="2743200"/>
          </a:xfrm>
          <a:prstGeom prst="rect">
            <a:avLst>
              <a:gd name="adj" fmla="val 1724"/>
            </a:avLst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37360"/>
            <a:ext cx="2651760" cy="36576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Policy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/legal/privacy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Data collection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Storage &amp; sharing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 rights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Cookies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737360"/>
            <a:ext cx="2651760" cy="2743200"/>
          </a:xfrm>
          <a:prstGeom prst="rect">
            <a:avLst>
              <a:gd name="adj" fmla="val 1724"/>
            </a:avLst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737360"/>
            <a:ext cx="2651760" cy="36576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9184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of Service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697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/legal/terms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66160" y="3063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Acceptable use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33832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Payments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66160" y="3703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Liability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66160" y="40233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Termination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737360"/>
            <a:ext cx="2651760" cy="2743200"/>
          </a:xfrm>
          <a:prstGeom prst="rect">
            <a:avLst>
              <a:gd name="adj" fmla="val 1724"/>
            </a:avLst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1737360"/>
            <a:ext cx="2651760" cy="36576"/>
          </a:xfrm>
          <a:prstGeom prst="rect">
            <a:avLst>
              <a:gd name="adj" fmla="val 125000"/>
            </a:avLst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🍪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26480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Policy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6974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/legal/cookies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00800" y="306324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Session cookies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338328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Analytics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37033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Third-party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402336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Preferences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2D6EB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page with features, templates, and social proof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2D6EB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Sections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1463040"/>
          </a:xfrm>
          <a:prstGeom prst="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6576" cy="1463040"/>
          </a:xfrm>
          <a:prstGeom prst="rect">
            <a:avLst>
              <a:gd name="adj" fmla="val 125000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glow, animated badge, CTA buttons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1463040"/>
          </a:xfrm>
          <a:prstGeom prst="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97280"/>
            <a:ext cx="36576" cy="1463040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3192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 users, 50K+ cards, 99.9% uptime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51760" cy="1463040"/>
          </a:xfrm>
          <a:prstGeom prst="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097280"/>
            <a:ext cx="36576" cy="1463040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6656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737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bento cards with icons and hover effects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2651760" cy="1463040"/>
          </a:xfrm>
          <a:prstGeom prst="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834640"/>
            <a:ext cx="36576" cy="1463040"/>
          </a:xfrm>
          <a:prstGeom prst="rect">
            <a:avLst>
              <a:gd name="adj" fmla="val 125000"/>
            </a:avLst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 + 8 template preview cards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2834640"/>
            <a:ext cx="2651760" cy="1463040"/>
          </a:xfrm>
          <a:prstGeom prst="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91840" y="2834640"/>
            <a:ext cx="36576" cy="1463040"/>
          </a:xfrm>
          <a:prstGeom prst="rect">
            <a:avLst>
              <a:gd name="adj" fmla="val 125000"/>
            </a:avLst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93192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timeline with connectors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26480" y="2834640"/>
            <a:ext cx="2651760" cy="1463040"/>
          </a:xfrm>
          <a:prstGeom prst="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2834640"/>
            <a:ext cx="36576" cy="1463040"/>
          </a:xfrm>
          <a:prstGeom prst="rect">
            <a:avLst>
              <a:gd name="adj" fmla="val 125000"/>
            </a:avLst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6656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+ Footer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call-to-action and footer links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error boundaries and defensive rendering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Strategy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188720"/>
          </a:xfrm>
          <a:prstGeom prst="rect">
            <a:avLst>
              <a:gd name="adj" fmla="val 3846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6576" cy="1188720"/>
          </a:xfrm>
          <a:prstGeom prst="rect">
            <a:avLst>
              <a:gd name="adj" fmla="val 125000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Boundaries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error.tsx pages with retry buttons, error message display, and console logging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1188720"/>
          </a:xfrm>
          <a:prstGeom prst="rect">
            <a:avLst>
              <a:gd name="adj" fmla="val 3846"/>
            </a:avLst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097280"/>
            <a:ext cx="36576" cy="1188720"/>
          </a:xfrm>
          <a:prstGeom prst="rect">
            <a:avLst>
              <a:gd name="adj" fmla="val 125000"/>
            </a:avLst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49240" y="11887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Parsing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safeParseTemplateData() with Zod — never crashes on incomplete or invalid profile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931920" cy="1188720"/>
          </a:xfrm>
          <a:prstGeom prst="rect">
            <a:avLst>
              <a:gd name="adj" fmla="val 3846"/>
            </a:avLst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468880"/>
            <a:ext cx="36576" cy="1188720"/>
          </a:xfrm>
          <a:prstGeom prst="rect">
            <a:avLst>
              <a:gd name="adj" fmla="val 125000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25603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Profiles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Unpublished profiles show "Profile is a Draft" page instead of generic 404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3931920" cy="1188720"/>
          </a:xfrm>
          <a:prstGeom prst="rect">
            <a:avLst>
              <a:gd name="adj" fmla="val 3846"/>
            </a:avLst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468880"/>
            <a:ext cx="36576" cy="1188720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56032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 + Hydration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926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renders full HTML, client hydrates for interactivity — theme boot script handles class mismatch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ProfileError: AlertTriangle icon, red glow, Retry button, error.digest for debugging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QRError: Same pattern with fallback to NEX CARD Home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getDefaultData(): spreads raw data over category defaults (empty strings, empty arrays)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responsive layout across all pages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Breakpoints &amp; Layout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371600" cy="329184"/>
          </a:xfrm>
          <a:prstGeom prst="rect">
            <a:avLst>
              <a:gd name="adj" fmla="val 13889"/>
            </a:avLst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1097280"/>
            <a:ext cx="1371600" cy="329184"/>
          </a:xfrm>
          <a:prstGeom prst="rect">
            <a:avLst>
              <a:gd name="adj" fmla="val 13889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0972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1371600" cy="329184"/>
          </a:xfrm>
          <a:prstGeom prst="rect">
            <a:avLst>
              <a:gd name="adj" fmla="val 13889"/>
            </a:avLst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972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Grid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1371600" cy="329184"/>
          </a:xfrm>
          <a:prstGeom prst="rect">
            <a:avLst>
              <a:gd name="adj" fmla="val 13889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0972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1371600" cy="329184"/>
          </a:xfrm>
          <a:prstGeom prst="rect">
            <a:avLst>
              <a:gd name="adj" fmla="val 13889"/>
            </a:avLst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0972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0" y="1097280"/>
            <a:ext cx="1371600" cy="329184"/>
          </a:xfrm>
          <a:prstGeom prst="rect">
            <a:avLst>
              <a:gd name="adj" fmla="val 13889"/>
            </a:avLst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0972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Pages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426464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0" y="1426464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0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640px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0" y="1426464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column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1426464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Hamburger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0" y="1426464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315200" y="1426464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142646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column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1755648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17556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0" y="1755648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0" y="17556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640px+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0" y="1755648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17556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columns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0" y="1755648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17556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Hamburger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43600" y="1755648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0" y="17556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15200" y="1755648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0" y="17556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" y="2084832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20848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28800" y="2084832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44" name="Text 42"/>
          <p:cNvSpPr/>
          <p:nvPr/>
        </p:nvSpPr>
        <p:spPr>
          <a:xfrm>
            <a:off x="1828800" y="20848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768px+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0" y="2084832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0" y="20848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columns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0" y="2084832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0" y="20848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nav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943600" y="2084832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0" y="20848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315200" y="2084832"/>
            <a:ext cx="1371600" cy="329184"/>
          </a:xfrm>
          <a:prstGeom prst="rect">
            <a:avLst>
              <a:gd name="adj" fmla="val 13889"/>
            </a:avLst>
          </a:prstGeom>
          <a:solidFill>
            <a:srgbClr val="1A1A1A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0" y="208483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2414016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24140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828800" y="2414016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56" name="Text 54"/>
          <p:cNvSpPr/>
          <p:nvPr/>
        </p:nvSpPr>
        <p:spPr>
          <a:xfrm>
            <a:off x="1828800" y="24140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1024px+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00400" y="2414016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58" name="Text 56"/>
          <p:cNvSpPr/>
          <p:nvPr/>
        </p:nvSpPr>
        <p:spPr>
          <a:xfrm>
            <a:off x="3200400" y="24140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columns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0" y="2414016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0" y="24140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nav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43600" y="2414016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62" name="Text 60"/>
          <p:cNvSpPr/>
          <p:nvPr/>
        </p:nvSpPr>
        <p:spPr>
          <a:xfrm>
            <a:off x="5943600" y="24140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315200" y="2414016"/>
            <a:ext cx="1371600" cy="329184"/>
          </a:xfrm>
          <a:prstGeom prst="rect">
            <a:avLst>
              <a:gd name="adj" fmla="val 13889"/>
            </a:avLst>
          </a:prstGeom>
          <a:solidFill>
            <a:srgbClr val="141414"/>
          </a:solidFill>
          <a:ln/>
        </p:spPr>
      </p:sp>
      <p:sp>
        <p:nvSpPr>
          <p:cNvPr id="64" name="Text 62"/>
          <p:cNvSpPr/>
          <p:nvPr/>
        </p:nvSpPr>
        <p:spPr>
          <a:xfrm>
            <a:off x="7315200" y="241401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columns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7200" y="2743200"/>
            <a:ext cx="3931920" cy="109728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66" name="Shape 64"/>
          <p:cNvSpPr/>
          <p:nvPr/>
        </p:nvSpPr>
        <p:spPr>
          <a:xfrm>
            <a:off x="457200" y="2743200"/>
            <a:ext cx="36576" cy="1097280"/>
          </a:xfrm>
          <a:prstGeom prst="rect">
            <a:avLst>
              <a:gd name="adj" fmla="val 125000"/>
            </a:avLst>
          </a:prstGeom>
          <a:solidFill>
            <a:srgbClr val="14B8A6"/>
          </a:solidFill>
          <a:ln/>
        </p:spPr>
      </p:sp>
      <p:sp>
        <p:nvSpPr>
          <p:cNvPr id="67" name="Text 65"/>
          <p:cNvSpPr/>
          <p:nvPr/>
        </p:nvSpPr>
        <p:spPr>
          <a:xfrm>
            <a:off x="64008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051560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First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3200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layouts designed mobile-first, progressively enhanced for larger screens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754880" y="2743200"/>
            <a:ext cx="3931920" cy="1097280"/>
          </a:xfrm>
          <a:prstGeom prst="rect">
            <a:avLst>
              <a:gd name="adj" fmla="val 4167"/>
            </a:avLst>
          </a:prstGeom>
          <a:solidFill>
            <a:srgbClr val="1A1A1A"/>
          </a:solidFill>
          <a:ln/>
        </p:spPr>
      </p:sp>
      <p:sp>
        <p:nvSpPr>
          <p:cNvPr id="71" name="Shape 69"/>
          <p:cNvSpPr/>
          <p:nvPr/>
        </p:nvSpPr>
        <p:spPr>
          <a:xfrm>
            <a:off x="4754880" y="2743200"/>
            <a:ext cx="36576" cy="1097280"/>
          </a:xfrm>
          <a:prstGeom prst="rect">
            <a:avLst>
              <a:gd name="adj" fmla="val 125000"/>
            </a:avLst>
          </a:prstGeom>
          <a:solidFill>
            <a:srgbClr val="D4AF37"/>
          </a:solidFill>
          <a:ln/>
        </p:spPr>
      </p:sp>
      <p:sp>
        <p:nvSpPr>
          <p:cNvPr id="72" name="Text 70"/>
          <p:cNvSpPr/>
          <p:nvPr/>
        </p:nvSpPr>
        <p:spPr>
          <a:xfrm>
            <a:off x="493776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5349240" y="28346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Collapse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937760" y="3200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sidebar collapses to hamburger on mobile, hidden on preview routes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57200" y="4023360"/>
            <a:ext cx="393192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76" name="Shape 74"/>
          <p:cNvSpPr/>
          <p:nvPr/>
        </p:nvSpPr>
        <p:spPr>
          <a:xfrm>
            <a:off x="457200" y="4023360"/>
            <a:ext cx="36576" cy="914400"/>
          </a:xfrm>
          <a:prstGeom prst="rect">
            <a:avLst>
              <a:gd name="adj" fmla="val 125000"/>
            </a:avLst>
          </a:prstGeom>
          <a:solidFill>
            <a:srgbClr val="EC4899"/>
          </a:solidFill>
          <a:ln/>
        </p:spPr>
      </p:sp>
      <p:sp>
        <p:nvSpPr>
          <p:cNvPr id="77" name="Text 75"/>
          <p:cNvSpPr/>
          <p:nvPr/>
        </p:nvSpPr>
        <p:spPr>
          <a:xfrm>
            <a:off x="640080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1051560" y="41148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Preview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40080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on mobile, side-by-side panel on desktop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754880" y="4023360"/>
            <a:ext cx="3931920" cy="914400"/>
          </a:xfrm>
          <a:prstGeom prst="rect">
            <a:avLst>
              <a:gd name="adj" fmla="val 5000"/>
            </a:avLst>
          </a:prstGeom>
          <a:solidFill>
            <a:srgbClr val="1A1A1A"/>
          </a:solidFill>
          <a:ln/>
        </p:spPr>
      </p:sp>
      <p:sp>
        <p:nvSpPr>
          <p:cNvPr id="81" name="Shape 79"/>
          <p:cNvSpPr/>
          <p:nvPr/>
        </p:nvSpPr>
        <p:spPr>
          <a:xfrm>
            <a:off x="4754880" y="4023360"/>
            <a:ext cx="36576" cy="914400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82" name="Text 80"/>
          <p:cNvSpPr/>
          <p:nvPr/>
        </p:nvSpPr>
        <p:spPr>
          <a:xfrm>
            <a:off x="4937760" y="4133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5349240" y="411480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Tables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937760" y="4480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Horizontally scrollable on mobile, full-width on desktop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45720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37160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Performance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Headers, caching, and optimization strategies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"/>
          </a:xfrm>
          <a:prstGeom prst="rect">
            <a:avLst>
              <a:gd name="adj" fmla="val 250000"/>
            </a:avLst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Headers &amp; Performance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9144"/>
          </a:xfrm>
          <a:prstGeom prst="rect">
            <a:avLst>
              <a:gd name="adj" fmla="val 50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920240" cy="310896"/>
          </a:xfrm>
          <a:prstGeom prst="rect">
            <a:avLst>
              <a:gd name="adj" fmla="val 14706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005840"/>
            <a:ext cx="1920240" cy="310896"/>
          </a:xfrm>
          <a:prstGeom prst="rect">
            <a:avLst>
              <a:gd name="adj" fmla="val 14706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00584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16736"/>
            <a:ext cx="192024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1673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X-DNS-Prefetch-Control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1316736"/>
            <a:ext cx="192024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31673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27632"/>
            <a:ext cx="1920240" cy="310896"/>
          </a:xfrm>
          <a:prstGeom prst="rect">
            <a:avLst>
              <a:gd name="adj" fmla="val 14706"/>
            </a:avLst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62763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X-Content-Type-Options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377440" y="1627632"/>
            <a:ext cx="1920240" cy="310896"/>
          </a:xfrm>
          <a:prstGeom prst="rect">
            <a:avLst>
              <a:gd name="adj" fmla="val 14706"/>
            </a:avLst>
          </a:prstGeom>
          <a:solidFill>
            <a:srgbClr val="141414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0" y="162763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nosniff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938528"/>
            <a:ext cx="192024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9385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X-Frame-Options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77440" y="1938528"/>
            <a:ext cx="192024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1938528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SAMEORIGIN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249424"/>
            <a:ext cx="1920240" cy="310896"/>
          </a:xfrm>
          <a:prstGeom prst="rect">
            <a:avLst>
              <a:gd name="adj" fmla="val 14706"/>
            </a:avLst>
          </a:prstGeom>
          <a:solidFill>
            <a:srgbClr val="141414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24942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Referrer-Policy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77440" y="2249424"/>
            <a:ext cx="1920240" cy="310896"/>
          </a:xfrm>
          <a:prstGeom prst="rect">
            <a:avLst>
              <a:gd name="adj" fmla="val 14706"/>
            </a:avLst>
          </a:prstGeom>
          <a:solidFill>
            <a:srgbClr val="141414"/>
          </a:solidFill>
          <a:ln/>
        </p:spPr>
      </p:sp>
      <p:sp>
        <p:nvSpPr>
          <p:cNvPr id="24" name="Text 22"/>
          <p:cNvSpPr/>
          <p:nvPr/>
        </p:nvSpPr>
        <p:spPr>
          <a:xfrm>
            <a:off x="2377440" y="2249424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strict-origin-when-cross-origin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192024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560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Permissions-Policy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77440" y="2560320"/>
            <a:ext cx="192024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0" y="2560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camera=(), microphone=()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1005840"/>
            <a:ext cx="2057400" cy="310896"/>
          </a:xfrm>
          <a:prstGeom prst="rect">
            <a:avLst>
              <a:gd name="adj" fmla="val 14706"/>
            </a:avLst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100584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29400" y="1005840"/>
            <a:ext cx="2057400" cy="310896"/>
          </a:xfrm>
          <a:prstGeom prst="rect">
            <a:avLst>
              <a:gd name="adj" fmla="val 14706"/>
            </a:avLst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100584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1316736"/>
            <a:ext cx="205740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1316736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 Cache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29400" y="1316736"/>
            <a:ext cx="205740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1316736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1-hour revalidation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1627632"/>
            <a:ext cx="2057400" cy="310896"/>
          </a:xfrm>
          <a:prstGeom prst="rect">
            <a:avLst>
              <a:gd name="adj" fmla="val 14706"/>
            </a:avLst>
          </a:prstGeom>
          <a:solidFill>
            <a:srgbClr val="141414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0" y="1627632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Revalidation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629400" y="1627632"/>
            <a:ext cx="2057400" cy="310896"/>
          </a:xfrm>
          <a:prstGeom prst="rect">
            <a:avLst>
              <a:gd name="adj" fmla="val 14706"/>
            </a:avLst>
          </a:prstGeom>
          <a:solidFill>
            <a:srgbClr val="141414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1627632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Per-profile surgical purge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572000" y="1938528"/>
            <a:ext cx="205740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0" y="193852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Splitting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629400" y="1938528"/>
            <a:ext cx="205740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193852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next/dynamic per template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0" y="2249424"/>
            <a:ext cx="2057400" cy="310896"/>
          </a:xfrm>
          <a:prstGeom prst="rect">
            <a:avLst>
              <a:gd name="adj" fmla="val 14706"/>
            </a:avLst>
          </a:prstGeom>
          <a:solidFill>
            <a:srgbClr val="141414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2249424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629400" y="2249424"/>
            <a:ext cx="2057400" cy="310896"/>
          </a:xfrm>
          <a:prstGeom prst="rect">
            <a:avLst>
              <a:gd name="adj" fmla="val 14706"/>
            </a:avLst>
          </a:prstGeom>
          <a:solidFill>
            <a:srgbClr val="141414"/>
          </a:solidFill>
          <a:ln/>
        </p:spPr>
      </p:sp>
      <p:sp>
        <p:nvSpPr>
          <p:cNvPr id="48" name="Text 46"/>
          <p:cNvSpPr/>
          <p:nvPr/>
        </p:nvSpPr>
        <p:spPr>
          <a:xfrm>
            <a:off x="6629400" y="2249424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AVIF/WebP, 7-day TTL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0" y="2560320"/>
            <a:ext cx="205740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0" y="256032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629400" y="2560320"/>
            <a:ext cx="2057400" cy="310896"/>
          </a:xfrm>
          <a:prstGeom prst="rect">
            <a:avLst>
              <a:gd name="adj" fmla="val 14706"/>
            </a:avLst>
          </a:prstGeom>
          <a:solidFill>
            <a:srgbClr val="1A1A1A"/>
          </a:solidFill>
          <a:ln/>
        </p:spPr>
      </p:sp>
      <p:sp>
        <p:nvSpPr>
          <p:cNvPr id="52" name="Text 50"/>
          <p:cNvSpPr/>
          <p:nvPr/>
        </p:nvSpPr>
        <p:spPr>
          <a:xfrm>
            <a:off x="6629400" y="256032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gzip enabled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0" y="2871216"/>
            <a:ext cx="2057400" cy="310896"/>
          </a:xfrm>
          <a:prstGeom prst="rect">
            <a:avLst>
              <a:gd name="adj" fmla="val 14706"/>
            </a:avLst>
          </a:prstGeom>
          <a:solidFill>
            <a:srgbClr val="141414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0" y="2871216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Assets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629400" y="2871216"/>
            <a:ext cx="2057400" cy="310896"/>
          </a:xfrm>
          <a:prstGeom prst="rect">
            <a:avLst>
              <a:gd name="adj" fmla="val 14706"/>
            </a:avLst>
          </a:prstGeom>
          <a:solidFill>
            <a:srgbClr val="141414"/>
          </a:solidFill>
          <a:ln/>
        </p:spPr>
      </p:sp>
      <p:sp>
        <p:nvSpPr>
          <p:cNvPr id="56" name="Text 54"/>
          <p:cNvSpPr/>
          <p:nvPr/>
        </p:nvSpPr>
        <p:spPr>
          <a:xfrm>
            <a:off x="6629400" y="2871216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1-year immutable cache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" y="3200400"/>
            <a:ext cx="822960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Session Management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HTTP-only cookie (session_token)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Not accessible via JavaScript (XSS protection)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008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Secure flag for HTTPS in production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SameSite=Lax for CSRF protection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572000" y="3611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Server-side validation via Prisma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572000" y="3931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Automatic session expiry cleanup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572000" y="4251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Single-session policy (new login clears old)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0" y="4572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bcrypt password hashing (12 salt rounds)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3D3200"/>
          </a:solidFill>
          <a:ln/>
          <a:effectLst>
            <a:outerShdw sx="100000" sy="100000" kx="0" ky="0" algn="bl" rotWithShape="0" blurRad="1270000" dist="50800" dir="16200000">
              <a:srgbClr val="D4AF37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3200400" y="1828800"/>
            <a:ext cx="274320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 — Your Digital Identity, Elevated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nexcard.io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3931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 CARD — Visual User Guide</dc:title>
  <dc:subject>PptxGenJS Presentation</dc:subject>
  <dc:creator>PptxGenJS</dc:creator>
  <cp:lastModifiedBy>PptxGenJS</cp:lastModifiedBy>
  <cp:revision>1</cp:revision>
  <dcterms:created xsi:type="dcterms:W3CDTF">2026-07-20T13:45:45Z</dcterms:created>
  <dcterms:modified xsi:type="dcterms:W3CDTF">2026-07-20T13:45:45Z</dcterms:modified>
</cp:coreProperties>
</file>