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3D3200"/>
          </a:solidFill>
          <a:ln/>
          <a:effectLst>
            <a:outerShdw sx="100000" sy="100000" kx="0" ky="0" algn="bl" rotWithShape="0" blurRad="1524000" dist="50800" dir="16200000">
              <a:srgbClr val="D4AF37">
                <a:alpha val="1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31520" y="1371600"/>
            <a:ext cx="2011680" cy="54864"/>
          </a:xfrm>
          <a:prstGeom prst="rect">
            <a:avLst>
              <a:gd name="adj" fmla="val 83333"/>
            </a:avLst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 CARD Project Flow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tech stack, data flow, and development journey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1463040" cy="320040"/>
          </a:xfrm>
          <a:prstGeom prst="rect">
            <a:avLst>
              <a:gd name="adj" fmla="val 14286"/>
            </a:avLst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8404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 CARD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NEX CARD is and what it solves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NEX CARD?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91440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914400"/>
          </a:xfrm>
          <a:prstGeom prst="rect">
            <a:avLst>
              <a:gd name="adj" fmla="val 83333"/>
            </a:avLst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1143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platform to create, manage, and share digital identity pages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6002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get a unique URL: nexcard.io/{slug}  •  Shareable via QR, NFC, or direct link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55448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77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94560" y="2286000"/>
            <a:ext cx="155448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2377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94560" y="2834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31920" y="2286000"/>
            <a:ext cx="155448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2377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31920" y="2834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Gen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0" y="2286000"/>
            <a:ext cx="155448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2377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669280" y="2834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Share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06640" y="2286000"/>
            <a:ext cx="118872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2377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06640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365760"/>
          </a:xfrm>
          <a:prstGeom prst="rect">
            <a:avLst>
              <a:gd name="adj" fmla="val 12500"/>
            </a:avLst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What We Offer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20 handcrafted premium templates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QR code generation &amp; download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NFC tag programming via Web NFC API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Real-time template preview before publish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Dual theme system (dark/light)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154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Mobile-first responsive design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vCard download (save contact to phone)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80560" y="1097280"/>
            <a:ext cx="18288" cy="3657600"/>
          </a:xfrm>
          <a:prstGeom prst="rect">
            <a:avLst>
              <a:gd name="adj" fmla="val 250000"/>
            </a:avLst>
          </a:prstGeom>
          <a:solidFill>
            <a:srgbClr val="2A2A2A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1051560"/>
            <a:ext cx="4114800" cy="365760"/>
          </a:xfrm>
          <a:prstGeom prst="rect">
            <a:avLst>
              <a:gd name="adj" fmla="val 12500"/>
            </a:avLst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Problems We Solve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more exchanging business cards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1874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One link for all digital presence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QR codes for print materials &amp; events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2514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NFC tap-to-share at conferences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2834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SEO-optimized profile pages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3154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coding required — visual editor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3474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Revenue tracking for premium templates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Technologies, frameworks, and tools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1920240" cy="1371600"/>
          </a:xfrm>
          <a:prstGeom prst="rect">
            <a:avLst>
              <a:gd name="adj" fmla="val 3333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Router, React 19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1920240" cy="36576"/>
          </a:xfrm>
          <a:prstGeom prst="rect">
            <a:avLst>
              <a:gd name="adj" fmla="val 1250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0" y="1051560"/>
            <a:ext cx="1920240" cy="1371600"/>
          </a:xfrm>
          <a:prstGeom prst="rect">
            <a:avLst>
              <a:gd name="adj" fmla="val 3333"/>
            </a:avLst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143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🔷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6032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mode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60320" y="2286000"/>
            <a:ext cx="1920240" cy="36576"/>
          </a:xfrm>
          <a:prstGeom prst="rect">
            <a:avLst>
              <a:gd name="adj" fmla="val 125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1051560"/>
            <a:ext cx="1920240" cy="1371600"/>
          </a:xfrm>
          <a:prstGeom prst="rect">
            <a:avLst>
              <a:gd name="adj" fmla="val 3333"/>
            </a:avLst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143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6344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utility-first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2286000"/>
            <a:ext cx="1920240" cy="36576"/>
          </a:xfrm>
          <a:prstGeom prst="rect">
            <a:avLst>
              <a:gd name="adj" fmla="val 125000"/>
            </a:avLst>
          </a:prstGeom>
          <a:solidFill>
            <a:srgbClr val="06B6D4"/>
          </a:solidFill>
          <a:ln/>
        </p:spPr>
      </p:sp>
      <p:sp>
        <p:nvSpPr>
          <p:cNvPr id="20" name="Shape 18"/>
          <p:cNvSpPr/>
          <p:nvPr/>
        </p:nvSpPr>
        <p:spPr>
          <a:xfrm>
            <a:off x="6766560" y="1051560"/>
            <a:ext cx="1920240" cy="1371600"/>
          </a:xfrm>
          <a:prstGeom prst="rect">
            <a:avLst>
              <a:gd name="adj" fmla="val 3333"/>
            </a:avLst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143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6656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ORM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database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66560" y="2286000"/>
            <a:ext cx="1920240" cy="36576"/>
          </a:xfrm>
          <a:prstGeom prst="rect">
            <a:avLst>
              <a:gd name="adj" fmla="val 125000"/>
            </a:avLst>
          </a:prstGeom>
          <a:solidFill>
            <a:srgbClr val="CCCCCC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697480"/>
            <a:ext cx="1920240" cy="1371600"/>
          </a:xfrm>
          <a:prstGeom prst="rect">
            <a:avLst>
              <a:gd name="adj" fmla="val 3333"/>
            </a:avLst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788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57200" y="3291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Auth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611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cookie-based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1920240" cy="36576"/>
          </a:xfrm>
          <a:prstGeom prst="rect">
            <a:avLst>
              <a:gd name="adj" fmla="val 125000"/>
            </a:avLst>
          </a:prstGeom>
          <a:solidFill>
            <a:srgbClr val="22C55E"/>
          </a:solidFill>
          <a:ln/>
        </p:spPr>
      </p:sp>
      <p:sp>
        <p:nvSpPr>
          <p:cNvPr id="30" name="Shape 28"/>
          <p:cNvSpPr/>
          <p:nvPr/>
        </p:nvSpPr>
        <p:spPr>
          <a:xfrm>
            <a:off x="2560320" y="2697480"/>
            <a:ext cx="1920240" cy="1371600"/>
          </a:xfrm>
          <a:prstGeom prst="rect">
            <a:avLst>
              <a:gd name="adj" fmla="val 3333"/>
            </a:avLst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2560320" y="2788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560320" y="3291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Nodemailer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60320" y="3611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 email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60320" y="3931920"/>
            <a:ext cx="1920240" cy="36576"/>
          </a:xfrm>
          <a:prstGeom prst="rect">
            <a:avLst>
              <a:gd name="adj" fmla="val 125000"/>
            </a:avLst>
          </a:prstGeom>
          <a:solidFill>
            <a:srgbClr val="F97316"/>
          </a:solidFill>
          <a:ln/>
        </p:spPr>
      </p:sp>
      <p:sp>
        <p:nvSpPr>
          <p:cNvPr id="35" name="Shape 33"/>
          <p:cNvSpPr/>
          <p:nvPr/>
        </p:nvSpPr>
        <p:spPr>
          <a:xfrm>
            <a:off x="4663440" y="2697480"/>
            <a:ext cx="1920240" cy="1371600"/>
          </a:xfrm>
          <a:prstGeom prst="rect">
            <a:avLst>
              <a:gd name="adj" fmla="val 3333"/>
            </a:avLst>
          </a:prstGeom>
          <a:solidFill>
            <a:srgbClr val="1A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2788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4663440" y="3291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R2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3611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storage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63440" y="3931920"/>
            <a:ext cx="1920240" cy="36576"/>
          </a:xfrm>
          <a:prstGeom prst="rect">
            <a:avLst>
              <a:gd name="adj" fmla="val 125000"/>
            </a:avLst>
          </a:prstGeom>
          <a:solidFill>
            <a:srgbClr val="F97316"/>
          </a:solidFill>
          <a:ln/>
        </p:spPr>
      </p:sp>
      <p:sp>
        <p:nvSpPr>
          <p:cNvPr id="40" name="Shape 38"/>
          <p:cNvSpPr/>
          <p:nvPr/>
        </p:nvSpPr>
        <p:spPr>
          <a:xfrm>
            <a:off x="6766560" y="2697480"/>
            <a:ext cx="1920240" cy="1371600"/>
          </a:xfrm>
          <a:prstGeom prst="rect">
            <a:avLst>
              <a:gd name="adj" fmla="val 3333"/>
            </a:avLst>
          </a:prstGeom>
          <a:solidFill>
            <a:srgbClr val="1A1A1A"/>
          </a:solidFill>
          <a:ln/>
        </p:spPr>
      </p:sp>
      <p:sp>
        <p:nvSpPr>
          <p:cNvPr id="41" name="Text 39"/>
          <p:cNvSpPr/>
          <p:nvPr/>
        </p:nvSpPr>
        <p:spPr>
          <a:xfrm>
            <a:off x="6766560" y="2788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6766560" y="3291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66560" y="3611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&amp; Cron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766560" y="3931920"/>
            <a:ext cx="1920240" cy="36576"/>
          </a:xfrm>
          <a:prstGeom prst="rect">
            <a:avLst>
              <a:gd name="adj" fmla="val 125000"/>
            </a:avLst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2D6E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File Structure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51560"/>
            <a:ext cx="8595360" cy="3657600"/>
          </a:xfrm>
          <a:prstGeom prst="rect">
            <a:avLst>
              <a:gd name="adj" fmla="val 1250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51560"/>
            <a:ext cx="36576" cy="3657600"/>
          </a:xfrm>
          <a:prstGeom prst="rect">
            <a:avLst>
              <a:gd name="adj" fmla="val 125000"/>
            </a:avLst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src/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344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📁 app/              — Next.js App Router pages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54533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📁 (auth)/         — Login, register pages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74650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📁 admin/          — Admin panel (settings, templates, revenue, backups)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9476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📁 dashboard/      — User dashboard (profile cards, editor, QR, NFC, analytics)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📁 [slug]/         — Public profile renderer (SSR + client hydration)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3500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📁 p/[slug]/       — QR scan landing page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55117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📁 legal/          — Privacy, Terms, Cookies pages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275234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📁 maintenance/    — Animated dark maintenance page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29535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📁 components/       — Reusable UI and template components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1546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📁 templates/      — 20 template components (5 per category)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33558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📁 ui/             — Logo, theme toggle, shared components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355701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📁 lib/              — Utilities, hooks, validators, auth, cache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37581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📁 types/            — TypeScript interfaces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39593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data/               — settings.json (platform config)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41605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public/             — Static assets, brand logos, uploads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models and their relationships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Models &amp; Relationships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1554480"/>
          </a:xfrm>
          <a:prstGeom prst="rect">
            <a:avLst>
              <a:gd name="adj" fmla="val 2941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2560320" cy="320040"/>
          </a:xfrm>
          <a:prstGeom prst="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17007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213969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23591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0" y="1097280"/>
            <a:ext cx="2560320" cy="1554480"/>
          </a:xfrm>
          <a:prstGeom prst="rect">
            <a:avLst>
              <a:gd name="adj" fmla="val 2941"/>
            </a:avLst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1097280"/>
            <a:ext cx="2560320" cy="320040"/>
          </a:xfrm>
          <a:prstGeom prst="rect">
            <a:avLst>
              <a:gd name="adj" fmla="val 14286"/>
            </a:avLst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14813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token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37560" y="17007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userId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37560" y="19202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expires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560320" cy="1554480"/>
          </a:xfrm>
          <a:prstGeom prst="rect">
            <a:avLst>
              <a:gd name="adj" fmla="val 2941"/>
            </a:avLst>
          </a:prstGeom>
          <a:solidFill>
            <a:srgbClr val="1A1A1A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926080"/>
            <a:ext cx="2560320" cy="320040"/>
          </a:xfrm>
          <a:prstGeom prst="rect">
            <a:avLst>
              <a:gd name="adj" fmla="val 14286"/>
            </a:avLst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3101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" y="35295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94360" y="37490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slug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560320" cy="1554480"/>
          </a:xfrm>
          <a:prstGeom prst="rect">
            <a:avLst>
              <a:gd name="adj" fmla="val 2941"/>
            </a:avLst>
          </a:prstGeom>
          <a:solidFill>
            <a:srgbClr val="1A1A1A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0" y="2926080"/>
            <a:ext cx="2560320" cy="320040"/>
          </a:xfrm>
          <a:prstGeom prst="rect">
            <a:avLst>
              <a:gd name="adj" fmla="val 14286"/>
            </a:avLst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33101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37560" y="35295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37560" y="37490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codeId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37560" y="396849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accentColor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943600" y="1097280"/>
            <a:ext cx="2560320" cy="1554480"/>
          </a:xfrm>
          <a:prstGeom prst="rect">
            <a:avLst>
              <a:gd name="adj" fmla="val 2941"/>
            </a:avLst>
          </a:prstGeom>
          <a:solidFill>
            <a:srgbClr val="1A1A1A"/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0" y="1097280"/>
            <a:ext cx="2560320" cy="320040"/>
          </a:xfrm>
          <a:prstGeom prst="rect">
            <a:avLst>
              <a:gd name="adj" fmla="val 14286"/>
            </a:avLst>
          </a:prstGeom>
          <a:solidFill>
            <a:srgbClr val="D4AF37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UserProfile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80760" y="14813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80760" y="17007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slug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080760" y="19202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dynamicJson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80760" y="213969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isPublished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943600" y="2926080"/>
            <a:ext cx="2560320" cy="1554480"/>
          </a:xfrm>
          <a:prstGeom prst="rect">
            <a:avLst>
              <a:gd name="adj" fmla="val 2941"/>
            </a:avLst>
          </a:prstGeom>
          <a:solidFill>
            <a:srgbClr val="1A1A1A"/>
          </a:solidFill>
          <a:ln/>
        </p:spPr>
      </p:sp>
      <p:sp>
        <p:nvSpPr>
          <p:cNvPr id="40" name="Shape 38"/>
          <p:cNvSpPr/>
          <p:nvPr/>
        </p:nvSpPr>
        <p:spPr>
          <a:xfrm>
            <a:off x="5943600" y="2926080"/>
            <a:ext cx="256032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80760" y="33101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080760" y="35295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tier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080760" y="37490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amount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80760" y="396849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017520" y="1691640"/>
            <a:ext cx="18288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headEnd type="arrow"/>
          </a:ln>
        </p:spPr>
      </p:sp>
      <p:sp>
        <p:nvSpPr>
          <p:cNvPr id="47" name="Shape 45"/>
          <p:cNvSpPr/>
          <p:nvPr/>
        </p:nvSpPr>
        <p:spPr>
          <a:xfrm>
            <a:off x="1737360" y="2651760"/>
            <a:ext cx="0" cy="27432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headEnd type="arrow"/>
          </a:ln>
        </p:spPr>
      </p:sp>
      <p:sp>
        <p:nvSpPr>
          <p:cNvPr id="48" name="Shape 46"/>
          <p:cNvSpPr/>
          <p:nvPr/>
        </p:nvSpPr>
        <p:spPr>
          <a:xfrm>
            <a:off x="4480560" y="2651760"/>
            <a:ext cx="2651760" cy="-109728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headEnd type="arrow"/>
          </a:ln>
        </p:spPr>
      </p:sp>
      <p:sp>
        <p:nvSpPr>
          <p:cNvPr id="49" name="Shape 47"/>
          <p:cNvSpPr/>
          <p:nvPr/>
        </p:nvSpPr>
        <p:spPr>
          <a:xfrm>
            <a:off x="3017520" y="3474720"/>
            <a:ext cx="18288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headEnd type="arrow"/>
          </a:ln>
        </p:spPr>
      </p:sp>
      <p:sp>
        <p:nvSpPr>
          <p:cNvPr id="50" name="Shape 48"/>
          <p:cNvSpPr/>
          <p:nvPr/>
        </p:nvSpPr>
        <p:spPr>
          <a:xfrm>
            <a:off x="7223760" y="2651760"/>
            <a:ext cx="0" cy="27432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headEnd type="arrow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Session-based auth without third-party libraries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Flow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-182880" y="164592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-201168" y="162763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6304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60" dirty="0"/>
          </a:p>
        </p:txBody>
      </p:sp>
      <p:sp>
        <p:nvSpPr>
          <p:cNvPr id="9" name="Text 7"/>
          <p:cNvSpPr/>
          <p:nvPr/>
        </p:nvSpPr>
        <p:spPr>
          <a:xfrm>
            <a:off x="-182880" y="1783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43000" y="2011680"/>
            <a:ext cx="2743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arrow"/>
          </a:ln>
        </p:spPr>
      </p:sp>
      <p:sp>
        <p:nvSpPr>
          <p:cNvPr id="11" name="Shape 9"/>
          <p:cNvSpPr/>
          <p:nvPr/>
        </p:nvSpPr>
        <p:spPr>
          <a:xfrm>
            <a:off x="1463040" y="164592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4752" y="162763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65960" y="146304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96596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60" dirty="0"/>
          </a:p>
        </p:txBody>
      </p:sp>
      <p:sp>
        <p:nvSpPr>
          <p:cNvPr id="15" name="Text 13"/>
          <p:cNvSpPr/>
          <p:nvPr/>
        </p:nvSpPr>
        <p:spPr>
          <a:xfrm>
            <a:off x="1463040" y="1783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88920" y="2011680"/>
            <a:ext cx="2743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arrow"/>
          </a:ln>
        </p:spPr>
      </p:sp>
      <p:sp>
        <p:nvSpPr>
          <p:cNvPr id="17" name="Shape 15"/>
          <p:cNvSpPr/>
          <p:nvPr/>
        </p:nvSpPr>
        <p:spPr>
          <a:xfrm>
            <a:off x="3108960" y="164592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3090672" y="162763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1880" y="146304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60" dirty="0"/>
          </a:p>
        </p:txBody>
      </p:sp>
      <p:sp>
        <p:nvSpPr>
          <p:cNvPr id="21" name="Text 19"/>
          <p:cNvSpPr/>
          <p:nvPr/>
        </p:nvSpPr>
        <p:spPr>
          <a:xfrm>
            <a:off x="3108960" y="1783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34840" y="2011680"/>
            <a:ext cx="2743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arrow"/>
          </a:ln>
        </p:spPr>
      </p:sp>
      <p:sp>
        <p:nvSpPr>
          <p:cNvPr id="23" name="Shape 21"/>
          <p:cNvSpPr/>
          <p:nvPr/>
        </p:nvSpPr>
        <p:spPr>
          <a:xfrm>
            <a:off x="4754880" y="164592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24" name="Shape 22"/>
          <p:cNvSpPr/>
          <p:nvPr/>
        </p:nvSpPr>
        <p:spPr>
          <a:xfrm>
            <a:off x="4736592" y="162763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57800" y="146304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525780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60" dirty="0"/>
          </a:p>
        </p:txBody>
      </p:sp>
      <p:sp>
        <p:nvSpPr>
          <p:cNvPr id="27" name="Text 25"/>
          <p:cNvSpPr/>
          <p:nvPr/>
        </p:nvSpPr>
        <p:spPr>
          <a:xfrm>
            <a:off x="4754880" y="1783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80760" y="2011680"/>
            <a:ext cx="2743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arrow"/>
          </a:ln>
        </p:spPr>
      </p:sp>
      <p:sp>
        <p:nvSpPr>
          <p:cNvPr id="29" name="Shape 27"/>
          <p:cNvSpPr/>
          <p:nvPr/>
        </p:nvSpPr>
        <p:spPr>
          <a:xfrm>
            <a:off x="6400800" y="164592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6382512" y="162763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146304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60" dirty="0"/>
          </a:p>
        </p:txBody>
      </p:sp>
      <p:sp>
        <p:nvSpPr>
          <p:cNvPr id="33" name="Text 31"/>
          <p:cNvSpPr/>
          <p:nvPr/>
        </p:nvSpPr>
        <p:spPr>
          <a:xfrm>
            <a:off x="6400800" y="1783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726680" y="2011680"/>
            <a:ext cx="2743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arrow"/>
          </a:ln>
        </p:spPr>
      </p:sp>
      <p:sp>
        <p:nvSpPr>
          <p:cNvPr id="35" name="Shape 33"/>
          <p:cNvSpPr/>
          <p:nvPr/>
        </p:nvSpPr>
        <p:spPr>
          <a:xfrm>
            <a:off x="8046720" y="164592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36" name="Shape 34"/>
          <p:cNvSpPr/>
          <p:nvPr/>
        </p:nvSpPr>
        <p:spPr>
          <a:xfrm>
            <a:off x="8028432" y="162763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49640" y="146304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8" name="Text 36"/>
          <p:cNvSpPr/>
          <p:nvPr/>
        </p:nvSpPr>
        <p:spPr>
          <a:xfrm>
            <a:off x="854964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60" dirty="0"/>
          </a:p>
        </p:txBody>
      </p:sp>
      <p:sp>
        <p:nvSpPr>
          <p:cNvPr id="39" name="Text 37"/>
          <p:cNvSpPr/>
          <p:nvPr/>
        </p:nvSpPr>
        <p:spPr>
          <a:xfrm>
            <a:off x="8046720" y="1783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Dashboard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email verification required (can be added)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Session token: random 64-char hex string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Cookie: HTTP-only, Secure, SameSite=Lax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Default expiry: 30 days (configurable)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&amp; Session Validation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51560"/>
            <a:ext cx="8595360" cy="365760"/>
          </a:xfrm>
          <a:prstGeom prst="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Login Flow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53619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37160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60" dirty="0"/>
          </a:p>
        </p:txBody>
      </p:sp>
      <p:sp>
        <p:nvSpPr>
          <p:cNvPr id="11" name="Text 9"/>
          <p:cNvSpPr/>
          <p:nvPr/>
        </p:nvSpPr>
        <p:spPr>
          <a:xfrm>
            <a:off x="64008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65960" y="1920240"/>
            <a:ext cx="274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arrow"/>
          </a:ln>
        </p:spPr>
      </p:sp>
      <p:sp>
        <p:nvSpPr>
          <p:cNvPr id="13" name="Shape 11"/>
          <p:cNvSpPr/>
          <p:nvPr/>
        </p:nvSpPr>
        <p:spPr>
          <a:xfrm>
            <a:off x="2286000" y="155448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2267712" y="153619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137160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278892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60" dirty="0"/>
          </a:p>
        </p:txBody>
      </p:sp>
      <p:sp>
        <p:nvSpPr>
          <p:cNvPr id="17" name="Text 15"/>
          <p:cNvSpPr/>
          <p:nvPr/>
        </p:nvSpPr>
        <p:spPr>
          <a:xfrm>
            <a:off x="228600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11880" y="1920240"/>
            <a:ext cx="274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arrow"/>
          </a:ln>
        </p:spPr>
      </p:sp>
      <p:sp>
        <p:nvSpPr>
          <p:cNvPr id="19" name="Shape 17"/>
          <p:cNvSpPr/>
          <p:nvPr/>
        </p:nvSpPr>
        <p:spPr>
          <a:xfrm>
            <a:off x="3931920" y="155448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20" name="Shape 18"/>
          <p:cNvSpPr/>
          <p:nvPr/>
        </p:nvSpPr>
        <p:spPr>
          <a:xfrm>
            <a:off x="3913632" y="153619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137160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443484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60" dirty="0"/>
          </a:p>
        </p:txBody>
      </p:sp>
      <p:sp>
        <p:nvSpPr>
          <p:cNvPr id="23" name="Text 21"/>
          <p:cNvSpPr/>
          <p:nvPr/>
        </p:nvSpPr>
        <p:spPr>
          <a:xfrm>
            <a:off x="393192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Old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57800" y="1920240"/>
            <a:ext cx="274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arrow"/>
          </a:ln>
        </p:spPr>
      </p:sp>
      <p:sp>
        <p:nvSpPr>
          <p:cNvPr id="25" name="Shape 23"/>
          <p:cNvSpPr/>
          <p:nvPr/>
        </p:nvSpPr>
        <p:spPr>
          <a:xfrm>
            <a:off x="5577840" y="155448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26" name="Shape 24"/>
          <p:cNvSpPr/>
          <p:nvPr/>
        </p:nvSpPr>
        <p:spPr>
          <a:xfrm>
            <a:off x="5559552" y="153619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0760" y="137160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608076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60" dirty="0"/>
          </a:p>
        </p:txBody>
      </p:sp>
      <p:sp>
        <p:nvSpPr>
          <p:cNvPr id="29" name="Text 27"/>
          <p:cNvSpPr/>
          <p:nvPr/>
        </p:nvSpPr>
        <p:spPr>
          <a:xfrm>
            <a:off x="557784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03720" y="1920240"/>
            <a:ext cx="274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arrow"/>
          </a:ln>
        </p:spPr>
      </p:sp>
      <p:sp>
        <p:nvSpPr>
          <p:cNvPr id="31" name="Shape 29"/>
          <p:cNvSpPr/>
          <p:nvPr/>
        </p:nvSpPr>
        <p:spPr>
          <a:xfrm>
            <a:off x="7223760" y="155448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32" name="Shape 30"/>
          <p:cNvSpPr/>
          <p:nvPr/>
        </p:nvSpPr>
        <p:spPr>
          <a:xfrm>
            <a:off x="7205472" y="153619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26680" y="137160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772668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60" dirty="0"/>
          </a:p>
        </p:txBody>
      </p:sp>
      <p:sp>
        <p:nvSpPr>
          <p:cNvPr id="35" name="Text 33"/>
          <p:cNvSpPr/>
          <p:nvPr/>
        </p:nvSpPr>
        <p:spPr>
          <a:xfrm>
            <a:off x="722376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2926080"/>
            <a:ext cx="8595360" cy="365760"/>
          </a:xfrm>
          <a:prstGeom prst="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Session Validation (every request)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" y="347472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39" name="Shape 37"/>
          <p:cNvSpPr/>
          <p:nvPr/>
        </p:nvSpPr>
        <p:spPr>
          <a:xfrm>
            <a:off x="621792" y="345643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329184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1" name="Text 39"/>
          <p:cNvSpPr/>
          <p:nvPr/>
        </p:nvSpPr>
        <p:spPr>
          <a:xfrm>
            <a:off x="114300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60" dirty="0"/>
          </a:p>
        </p:txBody>
      </p:sp>
      <p:sp>
        <p:nvSpPr>
          <p:cNvPr id="42" name="Text 40"/>
          <p:cNvSpPr/>
          <p:nvPr/>
        </p:nvSpPr>
        <p:spPr>
          <a:xfrm>
            <a:off x="640080" y="3611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965960" y="3840480"/>
            <a:ext cx="2743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arrow"/>
          </a:ln>
        </p:spPr>
      </p:sp>
      <p:sp>
        <p:nvSpPr>
          <p:cNvPr id="44" name="Shape 42"/>
          <p:cNvSpPr/>
          <p:nvPr/>
        </p:nvSpPr>
        <p:spPr>
          <a:xfrm>
            <a:off x="2286000" y="347472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45" name="Shape 43"/>
          <p:cNvSpPr/>
          <p:nvPr/>
        </p:nvSpPr>
        <p:spPr>
          <a:xfrm>
            <a:off x="2267712" y="345643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88920" y="329184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7" name="Text 45"/>
          <p:cNvSpPr/>
          <p:nvPr/>
        </p:nvSpPr>
        <p:spPr>
          <a:xfrm>
            <a:off x="278892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60" dirty="0"/>
          </a:p>
        </p:txBody>
      </p:sp>
      <p:sp>
        <p:nvSpPr>
          <p:cNvPr id="48" name="Text 46"/>
          <p:cNvSpPr/>
          <p:nvPr/>
        </p:nvSpPr>
        <p:spPr>
          <a:xfrm>
            <a:off x="2286000" y="3611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11880" y="3840480"/>
            <a:ext cx="2743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arrow"/>
          </a:ln>
        </p:spPr>
      </p:sp>
      <p:sp>
        <p:nvSpPr>
          <p:cNvPr id="50" name="Shape 48"/>
          <p:cNvSpPr/>
          <p:nvPr/>
        </p:nvSpPr>
        <p:spPr>
          <a:xfrm>
            <a:off x="3931920" y="347472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51" name="Shape 49"/>
          <p:cNvSpPr/>
          <p:nvPr/>
        </p:nvSpPr>
        <p:spPr>
          <a:xfrm>
            <a:off x="3913632" y="345643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34840" y="329184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3" name="Text 51"/>
          <p:cNvSpPr/>
          <p:nvPr/>
        </p:nvSpPr>
        <p:spPr>
          <a:xfrm>
            <a:off x="443484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60" dirty="0"/>
          </a:p>
        </p:txBody>
      </p:sp>
      <p:sp>
        <p:nvSpPr>
          <p:cNvPr id="54" name="Text 52"/>
          <p:cNvSpPr/>
          <p:nvPr/>
        </p:nvSpPr>
        <p:spPr>
          <a:xfrm>
            <a:off x="3931920" y="3611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257800" y="3840480"/>
            <a:ext cx="2743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arrow"/>
          </a:ln>
        </p:spPr>
      </p:sp>
      <p:sp>
        <p:nvSpPr>
          <p:cNvPr id="56" name="Shape 54"/>
          <p:cNvSpPr/>
          <p:nvPr/>
        </p:nvSpPr>
        <p:spPr>
          <a:xfrm>
            <a:off x="5577840" y="347472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57" name="Shape 55"/>
          <p:cNvSpPr/>
          <p:nvPr/>
        </p:nvSpPr>
        <p:spPr>
          <a:xfrm>
            <a:off x="5559552" y="345643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080760" y="329184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9" name="Text 57"/>
          <p:cNvSpPr/>
          <p:nvPr/>
        </p:nvSpPr>
        <p:spPr>
          <a:xfrm>
            <a:off x="608076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60" dirty="0"/>
          </a:p>
        </p:txBody>
      </p:sp>
      <p:sp>
        <p:nvSpPr>
          <p:cNvPr id="60" name="Text 58"/>
          <p:cNvSpPr/>
          <p:nvPr/>
        </p:nvSpPr>
        <p:spPr>
          <a:xfrm>
            <a:off x="5577840" y="3611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Status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903720" y="3840480"/>
            <a:ext cx="2743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arrow"/>
          </a:ln>
        </p:spPr>
      </p:sp>
      <p:sp>
        <p:nvSpPr>
          <p:cNvPr id="62" name="Shape 60"/>
          <p:cNvSpPr/>
          <p:nvPr/>
        </p:nvSpPr>
        <p:spPr>
          <a:xfrm>
            <a:off x="7223760" y="347472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63" name="Shape 61"/>
          <p:cNvSpPr/>
          <p:nvPr/>
        </p:nvSpPr>
        <p:spPr>
          <a:xfrm>
            <a:off x="7205472" y="345643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329184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5" name="Text 63"/>
          <p:cNvSpPr/>
          <p:nvPr/>
        </p:nvSpPr>
        <p:spPr>
          <a:xfrm>
            <a:off x="772668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60" dirty="0"/>
          </a:p>
        </p:txBody>
      </p:sp>
      <p:sp>
        <p:nvSpPr>
          <p:cNvPr id="66" name="Text 64"/>
          <p:cNvSpPr/>
          <p:nvPr/>
        </p:nvSpPr>
        <p:spPr>
          <a:xfrm>
            <a:off x="7223760" y="3611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Valid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❌ Null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EC489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Rendering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templates are loaded, parsed, and rendered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Rendering Pipeline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371600"/>
            <a:ext cx="1280160" cy="91440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0"/>
            <a:ext cx="1280160" cy="54864"/>
          </a:xfrm>
          <a:prstGeom prst="rect">
            <a:avLst>
              <a:gd name="adj" fmla="val 83333"/>
            </a:avLst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23444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" dirty="0"/>
          </a:p>
        </p:txBody>
      </p:sp>
      <p:sp>
        <p:nvSpPr>
          <p:cNvPr id="9" name="Text 7"/>
          <p:cNvSpPr/>
          <p:nvPr/>
        </p:nvSpPr>
        <p:spPr>
          <a:xfrm>
            <a:off x="274320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Query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8745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fetch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572768" y="1828800"/>
            <a:ext cx="1371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arrow"/>
          </a:ln>
        </p:spPr>
      </p:sp>
      <p:sp>
        <p:nvSpPr>
          <p:cNvPr id="12" name="Shape 10"/>
          <p:cNvSpPr/>
          <p:nvPr/>
        </p:nvSpPr>
        <p:spPr>
          <a:xfrm>
            <a:off x="1737360" y="1371600"/>
            <a:ext cx="1280160" cy="91440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1737360" y="1371600"/>
            <a:ext cx="1280160" cy="54864"/>
          </a:xfrm>
          <a:prstGeom prst="rect">
            <a:avLst>
              <a:gd name="adj" fmla="val 83333"/>
            </a:avLst>
          </a:prstGeom>
          <a:solidFill>
            <a:srgbClr val="22C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4560" y="1234440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219456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" dirty="0"/>
          </a:p>
        </p:txBody>
      </p:sp>
      <p:sp>
        <p:nvSpPr>
          <p:cNvPr id="16" name="Text 14"/>
          <p:cNvSpPr/>
          <p:nvPr/>
        </p:nvSpPr>
        <p:spPr>
          <a:xfrm>
            <a:off x="1737360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Zod Parse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37360" y="18745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safeParseTemplateData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035808" y="1828800"/>
            <a:ext cx="13716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arrow"/>
          </a:ln>
        </p:spPr>
      </p:sp>
      <p:sp>
        <p:nvSpPr>
          <p:cNvPr id="19" name="Shape 17"/>
          <p:cNvSpPr/>
          <p:nvPr/>
        </p:nvSpPr>
        <p:spPr>
          <a:xfrm>
            <a:off x="3200400" y="1371600"/>
            <a:ext cx="1280160" cy="91440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0" y="1371600"/>
            <a:ext cx="1280160" cy="54864"/>
          </a:xfrm>
          <a:prstGeom prst="rect">
            <a:avLst>
              <a:gd name="adj" fmla="val 83333"/>
            </a:avLst>
          </a:prstGeom>
          <a:solidFill>
            <a:srgbClr val="D4AF37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0" y="1234440"/>
            <a:ext cx="274320" cy="2743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" dirty="0"/>
          </a:p>
        </p:txBody>
      </p:sp>
      <p:sp>
        <p:nvSpPr>
          <p:cNvPr id="23" name="Text 21"/>
          <p:cNvSpPr/>
          <p:nvPr/>
        </p:nvSpPr>
        <p:spPr>
          <a:xfrm>
            <a:off x="3200400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0" y="18745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categorySlug → templateCode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498848" y="1828800"/>
            <a:ext cx="13716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arrow"/>
          </a:ln>
        </p:spPr>
      </p:sp>
      <p:sp>
        <p:nvSpPr>
          <p:cNvPr id="26" name="Shape 24"/>
          <p:cNvSpPr/>
          <p:nvPr/>
        </p:nvSpPr>
        <p:spPr>
          <a:xfrm>
            <a:off x="4663440" y="1371600"/>
            <a:ext cx="1280160" cy="91440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/>
        </p:spPr>
      </p:sp>
      <p:sp>
        <p:nvSpPr>
          <p:cNvPr id="27" name="Shape 25"/>
          <p:cNvSpPr/>
          <p:nvPr/>
        </p:nvSpPr>
        <p:spPr>
          <a:xfrm>
            <a:off x="4663440" y="1371600"/>
            <a:ext cx="1280160" cy="54864"/>
          </a:xfrm>
          <a:prstGeom prst="rect">
            <a:avLst>
              <a:gd name="adj" fmla="val 83333"/>
            </a:avLst>
          </a:prstGeom>
          <a:solidFill>
            <a:srgbClr val="EC4899"/>
          </a:solidFill>
          <a:ln/>
        </p:spPr>
      </p:sp>
      <p:sp>
        <p:nvSpPr>
          <p:cNvPr id="28" name="Shape 26"/>
          <p:cNvSpPr/>
          <p:nvPr/>
        </p:nvSpPr>
        <p:spPr>
          <a:xfrm>
            <a:off x="5120640" y="1234440"/>
            <a:ext cx="274320" cy="27432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" dirty="0"/>
          </a:p>
        </p:txBody>
      </p:sp>
      <p:sp>
        <p:nvSpPr>
          <p:cNvPr id="30" name="Text 28"/>
          <p:cNvSpPr/>
          <p:nvPr/>
        </p:nvSpPr>
        <p:spPr>
          <a:xfrm>
            <a:off x="4663440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Import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63440" y="18745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next/dynamic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961888" y="1828800"/>
            <a:ext cx="13716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  <a:headEnd type="arrow"/>
          </a:ln>
        </p:spPr>
      </p:sp>
      <p:sp>
        <p:nvSpPr>
          <p:cNvPr id="33" name="Shape 31"/>
          <p:cNvSpPr/>
          <p:nvPr/>
        </p:nvSpPr>
        <p:spPr>
          <a:xfrm>
            <a:off x="6126480" y="1371600"/>
            <a:ext cx="1280160" cy="91440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/>
        </p:spPr>
      </p:sp>
      <p:sp>
        <p:nvSpPr>
          <p:cNvPr id="34" name="Shape 32"/>
          <p:cNvSpPr/>
          <p:nvPr/>
        </p:nvSpPr>
        <p:spPr>
          <a:xfrm>
            <a:off x="6126480" y="1371600"/>
            <a:ext cx="1280160" cy="54864"/>
          </a:xfrm>
          <a:prstGeom prst="rect">
            <a:avLst>
              <a:gd name="adj" fmla="val 83333"/>
            </a:avLst>
          </a:prstGeom>
          <a:solidFill>
            <a:srgbClr val="8B5CF6"/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0" y="1234440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80" dirty="0"/>
          </a:p>
        </p:txBody>
      </p:sp>
      <p:sp>
        <p:nvSpPr>
          <p:cNvPr id="37" name="Text 35"/>
          <p:cNvSpPr/>
          <p:nvPr/>
        </p:nvSpPr>
        <p:spPr>
          <a:xfrm>
            <a:off x="6126480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SSR Render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26480" y="18745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HTML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424928" y="1828800"/>
            <a:ext cx="13716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arrow"/>
          </a:ln>
        </p:spPr>
      </p:sp>
      <p:sp>
        <p:nvSpPr>
          <p:cNvPr id="40" name="Shape 38"/>
          <p:cNvSpPr/>
          <p:nvPr/>
        </p:nvSpPr>
        <p:spPr>
          <a:xfrm>
            <a:off x="7589520" y="1371600"/>
            <a:ext cx="1280160" cy="91440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/>
        </p:spPr>
      </p:sp>
      <p:sp>
        <p:nvSpPr>
          <p:cNvPr id="41" name="Shape 39"/>
          <p:cNvSpPr/>
          <p:nvPr/>
        </p:nvSpPr>
        <p:spPr>
          <a:xfrm>
            <a:off x="7589520" y="1371600"/>
            <a:ext cx="1280160" cy="54864"/>
          </a:xfrm>
          <a:prstGeom prst="rect">
            <a:avLst>
              <a:gd name="adj" fmla="val 83333"/>
            </a:avLst>
          </a:prstGeom>
          <a:solidFill>
            <a:srgbClr val="06B6D4"/>
          </a:solidFill>
          <a:ln/>
        </p:spPr>
      </p:sp>
      <p:sp>
        <p:nvSpPr>
          <p:cNvPr id="42" name="Shape 40"/>
          <p:cNvSpPr/>
          <p:nvPr/>
        </p:nvSpPr>
        <p:spPr>
          <a:xfrm>
            <a:off x="8046720" y="123444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3" name="Text 41"/>
          <p:cNvSpPr/>
          <p:nvPr/>
        </p:nvSpPr>
        <p:spPr>
          <a:xfrm>
            <a:off x="804672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80" dirty="0"/>
          </a:p>
        </p:txBody>
      </p:sp>
      <p:sp>
        <p:nvSpPr>
          <p:cNvPr id="44" name="Text 42"/>
          <p:cNvSpPr/>
          <p:nvPr/>
        </p:nvSpPr>
        <p:spPr>
          <a:xfrm>
            <a:off x="7589520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589520" y="18745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interactivity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57200" y="2651760"/>
            <a:ext cx="3931920" cy="320040"/>
          </a:xfrm>
          <a:prstGeom prst="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2651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Server Side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008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Profile data fetched from database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4008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ISR cache checked first (1-hour TTL)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008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safeParseTemplateData validates + normalizes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4008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Dynamic import loads only selected template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4008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Full HTML produced for SEO + performance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54880" y="2651760"/>
            <a:ext cx="3931920" cy="320040"/>
          </a:xfrm>
          <a:prstGeom prst="rect">
            <a:avLst>
              <a:gd name="adj" fmla="val 14286"/>
            </a:avLst>
          </a:prstGeom>
          <a:solidFill>
            <a:srgbClr val="EC4899"/>
          </a:solidFill>
          <a:ln/>
        </p:spPr>
      </p:sp>
      <p:sp>
        <p:nvSpPr>
          <p:cNvPr id="54" name="Text 52"/>
          <p:cNvSpPr/>
          <p:nvPr/>
        </p:nvSpPr>
        <p:spPr>
          <a:xfrm>
            <a:off x="4754880" y="2651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Client Side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93776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React hydrates pre-rendered HTML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3776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useState activates (copied, theme)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3776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onClick handlers work (save vCard, share)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93776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Image component optimizes avatars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3776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Theme toggle persists via localStorage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 Strategy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Multi-layer caching for performance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 Layers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3657600"/>
          </a:xfrm>
          <a:prstGeom prst="rect">
            <a:avLst>
              <a:gd name="adj" fmla="val 1250"/>
            </a:avLst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Browser Cache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/_next/static/* — immutable, 1yr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/uploads/* — 1-day, stale-while-revalidate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7680960" cy="2468880"/>
          </a:xfrm>
          <a:prstGeom prst="rect">
            <a:avLst>
              <a:gd name="adj" fmla="val 1852"/>
            </a:avLst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Next.js Data Cache (ISR)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Published profiles: 1-hour revalidation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Draft profiles: bypass cache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Cache key: profile-by-slug:{slug}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0" y="2103120"/>
            <a:ext cx="3200400" cy="2468880"/>
          </a:xfrm>
          <a:prstGeom prst="rect">
            <a:avLst>
              <a:gd name="adj" fmla="val 1852"/>
            </a:avLst>
          </a:prstGeom>
          <a:solidFill>
            <a:srgbClr val="141414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Tag-Based Revalidation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12080" y="2468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profile:{slug} — on save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1208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user-profiles:{userId} — on save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12080" y="3108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admin-stats — on view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12080" y="3429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templates — on admin change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Workflow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administration and monitoring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Access &amp; Navigation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1371600"/>
          </a:xfrm>
          <a:prstGeom prst="rect">
            <a:avLst>
              <a:gd name="adj" fmla="val 3333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371600"/>
          </a:xfrm>
          <a:prstGeom prst="rect">
            <a:avLst>
              <a:gd name="adj" fmla="val 83333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Access Control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getServerSession() checks role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Non-admin → redirected to /dashboard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Admin layout wraps sidebar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All admin pages use server components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420624"/>
          </a:xfrm>
          <a:prstGeom prst="rect">
            <a:avLst>
              <a:gd name="adj" fmla="val 10870"/>
            </a:avLst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097280"/>
            <a:ext cx="36576" cy="420624"/>
          </a:xfrm>
          <a:prstGeom prst="rect">
            <a:avLst>
              <a:gd name="adj" fmla="val 125000"/>
            </a:avLst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097280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109728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75120" y="109728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stats &amp; activity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54880" y="1581912"/>
            <a:ext cx="3931920" cy="420624"/>
          </a:xfrm>
          <a:prstGeom prst="rect">
            <a:avLst>
              <a:gd name="adj" fmla="val 10870"/>
            </a:avLst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1581912"/>
            <a:ext cx="36576" cy="420624"/>
          </a:xfrm>
          <a:prstGeom prst="rect">
            <a:avLst>
              <a:gd name="adj" fmla="val 125000"/>
            </a:avLst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581912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158191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158191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accounts &amp; roles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2066544"/>
            <a:ext cx="3931920" cy="420624"/>
          </a:xfrm>
          <a:prstGeom prst="rect">
            <a:avLst>
              <a:gd name="adj" fmla="val 10870"/>
            </a:avLst>
          </a:prstGeom>
          <a:solidFill>
            <a:srgbClr val="1A1A1A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2066544"/>
            <a:ext cx="36576" cy="420624"/>
          </a:xfrm>
          <a:prstGeom prst="rect">
            <a:avLst>
              <a:gd name="adj" fmla="val 125000"/>
            </a:avLst>
          </a:prstGeom>
          <a:solidFill>
            <a:srgbClr val="EC4899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66544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206654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75120" y="2066544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Add, edit, activate/deactivate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2551176"/>
            <a:ext cx="3931920" cy="420624"/>
          </a:xfrm>
          <a:prstGeom prst="rect">
            <a:avLst>
              <a:gd name="adj" fmla="val 10870"/>
            </a:avLst>
          </a:prstGeom>
          <a:solidFill>
            <a:srgbClr val="1A1A1A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2551176"/>
            <a:ext cx="36576" cy="420624"/>
          </a:xfrm>
          <a:prstGeom prst="rect">
            <a:avLst>
              <a:gd name="adj" fmla="val 125000"/>
            </a:avLst>
          </a:prstGeom>
          <a:solidFill>
            <a:srgbClr val="D4AF37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2551176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2551176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75120" y="2551176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verify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54880" y="3035808"/>
            <a:ext cx="3931920" cy="420624"/>
          </a:xfrm>
          <a:prstGeom prst="rect">
            <a:avLst>
              <a:gd name="adj" fmla="val 10870"/>
            </a:avLst>
          </a:prstGeom>
          <a:solidFill>
            <a:srgbClr val="1A1A1A"/>
          </a:solidFill>
          <a:ln/>
        </p:spPr>
      </p:sp>
      <p:sp>
        <p:nvSpPr>
          <p:cNvPr id="33" name="Shape 31"/>
          <p:cNvSpPr/>
          <p:nvPr/>
        </p:nvSpPr>
        <p:spPr>
          <a:xfrm>
            <a:off x="4754880" y="3035808"/>
            <a:ext cx="36576" cy="420624"/>
          </a:xfrm>
          <a:prstGeom prst="rect">
            <a:avLst>
              <a:gd name="adj" fmla="val 125000"/>
            </a:avLst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3035808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303580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675120" y="303580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+ Excel export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0" y="3520440"/>
            <a:ext cx="3931920" cy="420624"/>
          </a:xfrm>
          <a:prstGeom prst="rect">
            <a:avLst>
              <a:gd name="adj" fmla="val 10870"/>
            </a:avLst>
          </a:prstGeom>
          <a:solidFill>
            <a:srgbClr val="1A1A1A"/>
          </a:solidFill>
          <a:ln/>
        </p:spPr>
      </p:sp>
      <p:sp>
        <p:nvSpPr>
          <p:cNvPr id="38" name="Shape 36"/>
          <p:cNvSpPr/>
          <p:nvPr/>
        </p:nvSpPr>
        <p:spPr>
          <a:xfrm>
            <a:off x="4754880" y="3520440"/>
            <a:ext cx="36576" cy="420624"/>
          </a:xfrm>
          <a:prstGeom prst="rect">
            <a:avLst>
              <a:gd name="adj" fmla="val 125000"/>
            </a:avLst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3520440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03520" y="352044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75120" y="352044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config (JSON)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54880" y="4005072"/>
            <a:ext cx="3931920" cy="420624"/>
          </a:xfrm>
          <a:prstGeom prst="rect">
            <a:avLst>
              <a:gd name="adj" fmla="val 10870"/>
            </a:avLst>
          </a:prstGeom>
          <a:solidFill>
            <a:srgbClr val="1A1A1A"/>
          </a:solidFill>
          <a:ln/>
        </p:spPr>
      </p:sp>
      <p:sp>
        <p:nvSpPr>
          <p:cNvPr id="43" name="Shape 41"/>
          <p:cNvSpPr/>
          <p:nvPr/>
        </p:nvSpPr>
        <p:spPr>
          <a:xfrm>
            <a:off x="4754880" y="4005072"/>
            <a:ext cx="36576" cy="420624"/>
          </a:xfrm>
          <a:prstGeom prst="rect">
            <a:avLst>
              <a:gd name="adj" fmla="val 125000"/>
            </a:avLst>
          </a:prstGeom>
          <a:solidFill>
            <a:srgbClr val="22C55E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4005072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03520" y="400507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675120" y="400507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dump + email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Reporting &amp; Database Backups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3474720"/>
          </a:xfrm>
          <a:prstGeom prst="rect">
            <a:avLst>
              <a:gd name="adj" fmla="val 1316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3931920" cy="365760"/>
          </a:xfrm>
          <a:prstGeom prst="rect">
            <a:avLst>
              <a:gd name="adj" fmla="val 12500"/>
            </a:avLst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Revenue Reporting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Data Sources: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Payment records from database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User profiles with payment status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Template pricing tiers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Export Feature: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xlsx library generates Excel files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Columns: Date, User, Profile, etc.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Themed export button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4434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4754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Filters: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0080" y="5074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Date range, category, status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0080" y="5394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Summary cards with totals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1051560"/>
            <a:ext cx="3931920" cy="3474720"/>
          </a:xfrm>
          <a:prstGeom prst="rect">
            <a:avLst>
              <a:gd name="adj" fmla="val 1316"/>
            </a:avLst>
          </a:prstGeom>
          <a:solidFill>
            <a:srgbClr val="1A1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1051560"/>
            <a:ext cx="3931920" cy="365760"/>
          </a:xfrm>
          <a:prstGeom prst="rect">
            <a:avLst>
              <a:gd name="adj" fmla="val 12500"/>
            </a:avLst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Database Backups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155448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" y="153619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" y="137160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60" dirty="0"/>
          </a:p>
        </p:txBody>
      </p:sp>
      <p:sp>
        <p:nvSpPr>
          <p:cNvPr id="28" name="Text 26"/>
          <p:cNvSpPr/>
          <p:nvPr/>
        </p:nvSpPr>
        <p:spPr>
          <a:xfrm>
            <a:off x="64008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pull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965960" y="1920240"/>
            <a:ext cx="2743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arrow"/>
          </a:ln>
        </p:spPr>
      </p:sp>
      <p:sp>
        <p:nvSpPr>
          <p:cNvPr id="30" name="Shape 28"/>
          <p:cNvSpPr/>
          <p:nvPr/>
        </p:nvSpPr>
        <p:spPr>
          <a:xfrm>
            <a:off x="2286000" y="155448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31" name="Shape 29"/>
          <p:cNvSpPr/>
          <p:nvPr/>
        </p:nvSpPr>
        <p:spPr>
          <a:xfrm>
            <a:off x="2267712" y="153619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88920" y="137160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278892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60" dirty="0"/>
          </a:p>
        </p:txBody>
      </p:sp>
      <p:sp>
        <p:nvSpPr>
          <p:cNvPr id="34" name="Text 32"/>
          <p:cNvSpPr/>
          <p:nvPr/>
        </p:nvSpPr>
        <p:spPr>
          <a:xfrm>
            <a:off x="228600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11880" y="1920240"/>
            <a:ext cx="2743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arrow"/>
          </a:ln>
        </p:spPr>
      </p:sp>
      <p:sp>
        <p:nvSpPr>
          <p:cNvPr id="36" name="Shape 34"/>
          <p:cNvSpPr/>
          <p:nvPr/>
        </p:nvSpPr>
        <p:spPr>
          <a:xfrm>
            <a:off x="3931920" y="155448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37" name="Shape 35"/>
          <p:cNvSpPr/>
          <p:nvPr/>
        </p:nvSpPr>
        <p:spPr>
          <a:xfrm>
            <a:off x="3913632" y="153619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34840" y="137160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9" name="Text 37"/>
          <p:cNvSpPr/>
          <p:nvPr/>
        </p:nvSpPr>
        <p:spPr>
          <a:xfrm>
            <a:off x="443484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60" dirty="0"/>
          </a:p>
        </p:txBody>
      </p:sp>
      <p:sp>
        <p:nvSpPr>
          <p:cNvPr id="40" name="Text 38"/>
          <p:cNvSpPr/>
          <p:nvPr/>
        </p:nvSpPr>
        <p:spPr>
          <a:xfrm>
            <a:off x="393192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Gzip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257800" y="1920240"/>
            <a:ext cx="2743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arrow"/>
          </a:ln>
        </p:spPr>
      </p:sp>
      <p:sp>
        <p:nvSpPr>
          <p:cNvPr id="42" name="Shape 40"/>
          <p:cNvSpPr/>
          <p:nvPr/>
        </p:nvSpPr>
        <p:spPr>
          <a:xfrm>
            <a:off x="5577840" y="155448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43" name="Shape 41"/>
          <p:cNvSpPr/>
          <p:nvPr/>
        </p:nvSpPr>
        <p:spPr>
          <a:xfrm>
            <a:off x="5559552" y="153619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80760" y="137160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5" name="Text 43"/>
          <p:cNvSpPr/>
          <p:nvPr/>
        </p:nvSpPr>
        <p:spPr>
          <a:xfrm>
            <a:off x="608076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60" dirty="0"/>
          </a:p>
        </p:txBody>
      </p:sp>
      <p:sp>
        <p:nvSpPr>
          <p:cNvPr id="46" name="Text 44"/>
          <p:cNvSpPr/>
          <p:nvPr/>
        </p:nvSpPr>
        <p:spPr>
          <a:xfrm>
            <a:off x="557784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03720" y="1920240"/>
            <a:ext cx="2743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arrow"/>
          </a:ln>
        </p:spPr>
      </p:sp>
      <p:sp>
        <p:nvSpPr>
          <p:cNvPr id="48" name="Shape 46"/>
          <p:cNvSpPr/>
          <p:nvPr/>
        </p:nvSpPr>
        <p:spPr>
          <a:xfrm>
            <a:off x="7223760" y="155448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49" name="Shape 47"/>
          <p:cNvSpPr/>
          <p:nvPr/>
        </p:nvSpPr>
        <p:spPr>
          <a:xfrm>
            <a:off x="7205472" y="153619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726680" y="137160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1" name="Text 49"/>
          <p:cNvSpPr/>
          <p:nvPr/>
        </p:nvSpPr>
        <p:spPr>
          <a:xfrm>
            <a:off x="772668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60" dirty="0"/>
          </a:p>
        </p:txBody>
      </p:sp>
      <p:sp>
        <p:nvSpPr>
          <p:cNvPr id="52" name="Text 50"/>
          <p:cNvSpPr/>
          <p:nvPr/>
        </p:nvSpPr>
        <p:spPr>
          <a:xfrm>
            <a:off x="722376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937760" y="2743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Vercel Cron: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37760" y="3063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Weekly Monday 8am UTC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937760" y="3383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Configured in vercel.json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37760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37760" y="4023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Email Delivery: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937760" y="4343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Nodemailer + Gmail SMTP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3776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nangmya@dkmads.com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937760" y="4983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Attachment: .sql.gz file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Journey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 and iterations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Phases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2011680" cy="3474720"/>
          </a:xfrm>
          <a:prstGeom prst="rect">
            <a:avLst>
              <a:gd name="adj" fmla="val 2273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97280"/>
            <a:ext cx="2011680" cy="411480"/>
          </a:xfrm>
          <a:prstGeom prst="rect">
            <a:avLst>
              <a:gd name="adj" fmla="val 11111"/>
            </a:avLst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143000"/>
            <a:ext cx="320040" cy="320040"/>
          </a:xfrm>
          <a:prstGeom prst="ellipse">
            <a:avLst/>
          </a:prstGeom>
          <a:solidFill>
            <a:srgbClr val="0F0F0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60" dirty="0"/>
          </a:p>
        </p:txBody>
      </p:sp>
      <p:sp>
        <p:nvSpPr>
          <p:cNvPr id="9" name="Text 7"/>
          <p:cNvSpPr/>
          <p:nvPr/>
        </p:nvSpPr>
        <p:spPr>
          <a:xfrm>
            <a:off x="27432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Next.js 15 + TS + Tailwind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514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Prisma + MySQL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3017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20 templates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3520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SSR + ISR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304288" y="2834640"/>
            <a:ext cx="14630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headEnd type="arrow"/>
          </a:ln>
        </p:spPr>
      </p:sp>
      <p:sp>
        <p:nvSpPr>
          <p:cNvPr id="15" name="Shape 13"/>
          <p:cNvSpPr/>
          <p:nvPr/>
        </p:nvSpPr>
        <p:spPr>
          <a:xfrm>
            <a:off x="2468880" y="1097280"/>
            <a:ext cx="2011680" cy="3474720"/>
          </a:xfrm>
          <a:prstGeom prst="rect">
            <a:avLst>
              <a:gd name="adj" fmla="val 2273"/>
            </a:avLst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2468880" y="1097280"/>
            <a:ext cx="2011680" cy="411480"/>
          </a:xfrm>
          <a:prstGeom prst="rect">
            <a:avLst>
              <a:gd name="adj" fmla="val 11111"/>
            </a:avLst>
          </a:prstGeom>
          <a:solidFill>
            <a:srgbClr val="22C55E"/>
          </a:solidFill>
          <a:ln/>
        </p:spPr>
      </p:sp>
      <p:sp>
        <p:nvSpPr>
          <p:cNvPr id="17" name="Shape 15"/>
          <p:cNvSpPr/>
          <p:nvPr/>
        </p:nvSpPr>
        <p:spPr>
          <a:xfrm>
            <a:off x="3246120" y="1143000"/>
            <a:ext cx="320040" cy="320040"/>
          </a:xfrm>
          <a:prstGeom prst="ellipse">
            <a:avLst/>
          </a:prstGeom>
          <a:solidFill>
            <a:srgbClr val="0F0F0F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60" dirty="0"/>
          </a:p>
        </p:txBody>
      </p:sp>
      <p:sp>
        <p:nvSpPr>
          <p:cNvPr id="19" name="Text 17"/>
          <p:cNvSpPr/>
          <p:nvPr/>
        </p:nvSpPr>
        <p:spPr>
          <a:xfrm>
            <a:off x="246888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06040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Marketing page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606040" y="2514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Scroll reveal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606040" y="3017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Legal pages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06040" y="3520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Brand assets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498848" y="2834640"/>
            <a:ext cx="14630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headEnd type="arrow"/>
          </a:ln>
        </p:spPr>
      </p:sp>
      <p:sp>
        <p:nvSpPr>
          <p:cNvPr id="25" name="Shape 23"/>
          <p:cNvSpPr/>
          <p:nvPr/>
        </p:nvSpPr>
        <p:spPr>
          <a:xfrm>
            <a:off x="4663440" y="1097280"/>
            <a:ext cx="2011680" cy="3474720"/>
          </a:xfrm>
          <a:prstGeom prst="rect">
            <a:avLst>
              <a:gd name="adj" fmla="val 2273"/>
            </a:avLst>
          </a:prstGeom>
          <a:solidFill>
            <a:srgbClr val="1A1A1A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1097280"/>
            <a:ext cx="2011680" cy="411480"/>
          </a:xfrm>
          <a:prstGeom prst="rect">
            <a:avLst>
              <a:gd name="adj" fmla="val 11111"/>
            </a:avLst>
          </a:prstGeom>
          <a:solidFill>
            <a:srgbClr val="D4AF37"/>
          </a:solidFill>
          <a:ln/>
        </p:spPr>
      </p:sp>
      <p:sp>
        <p:nvSpPr>
          <p:cNvPr id="27" name="Shape 25"/>
          <p:cNvSpPr/>
          <p:nvPr/>
        </p:nvSpPr>
        <p:spPr>
          <a:xfrm>
            <a:off x="5440680" y="1143000"/>
            <a:ext cx="320040" cy="320040"/>
          </a:xfrm>
          <a:prstGeom prst="ellipse">
            <a:avLst/>
          </a:prstGeom>
          <a:solidFill>
            <a:srgbClr val="0F0F0F"/>
          </a:solidFill>
          <a:ln/>
        </p:spPr>
      </p:sp>
      <p:sp>
        <p:nvSpPr>
          <p:cNvPr id="28" name="Text 26"/>
          <p:cNvSpPr/>
          <p:nvPr/>
        </p:nvSpPr>
        <p:spPr>
          <a:xfrm>
            <a:off x="544068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60" dirty="0"/>
          </a:p>
        </p:txBody>
      </p:sp>
      <p:sp>
        <p:nvSpPr>
          <p:cNvPr id="29" name="Text 27"/>
          <p:cNvSpPr/>
          <p:nvPr/>
        </p:nvSpPr>
        <p:spPr>
          <a:xfrm>
            <a:off x="466344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Revenue reports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00600" y="2514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DB backups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00600" y="3017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Settings page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00600" y="3520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Maintenance mode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693408" y="2834640"/>
            <a:ext cx="14630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headEnd type="arrow"/>
          </a:ln>
        </p:spPr>
      </p:sp>
      <p:sp>
        <p:nvSpPr>
          <p:cNvPr id="35" name="Shape 33"/>
          <p:cNvSpPr/>
          <p:nvPr/>
        </p:nvSpPr>
        <p:spPr>
          <a:xfrm>
            <a:off x="6858000" y="1097280"/>
            <a:ext cx="2011680" cy="3474720"/>
          </a:xfrm>
          <a:prstGeom prst="rect">
            <a:avLst>
              <a:gd name="adj" fmla="val 2273"/>
            </a:avLst>
          </a:prstGeom>
          <a:solidFill>
            <a:srgbClr val="1A1A1A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0" y="1097280"/>
            <a:ext cx="2011680" cy="411480"/>
          </a:xfrm>
          <a:prstGeom prst="rect">
            <a:avLst>
              <a:gd name="adj" fmla="val 11111"/>
            </a:avLst>
          </a:prstGeom>
          <a:solidFill>
            <a:srgbClr val="EC4899"/>
          </a:solidFill>
          <a:ln/>
        </p:spPr>
      </p:sp>
      <p:sp>
        <p:nvSpPr>
          <p:cNvPr id="37" name="Shape 35"/>
          <p:cNvSpPr/>
          <p:nvPr/>
        </p:nvSpPr>
        <p:spPr>
          <a:xfrm>
            <a:off x="7635240" y="1143000"/>
            <a:ext cx="320040" cy="320040"/>
          </a:xfrm>
          <a:prstGeom prst="ellipse">
            <a:avLst/>
          </a:prstGeom>
          <a:solidFill>
            <a:srgbClr val="0F0F0F"/>
          </a:solidFill>
          <a:ln/>
        </p:spPr>
      </p:sp>
      <p:sp>
        <p:nvSpPr>
          <p:cNvPr id="38" name="Text 36"/>
          <p:cNvSpPr/>
          <p:nvPr/>
        </p:nvSpPr>
        <p:spPr>
          <a:xfrm>
            <a:off x="763524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60" dirty="0"/>
          </a:p>
        </p:txBody>
      </p:sp>
      <p:sp>
        <p:nvSpPr>
          <p:cNvPr id="39" name="Text 37"/>
          <p:cNvSpPr/>
          <p:nvPr/>
        </p:nvSpPr>
        <p:spPr>
          <a:xfrm>
            <a:off x="685800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95160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Editor UX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995160" y="2514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QR improvements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995160" y="3017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Bug fixes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95160" y="3520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Auth flow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Infrastructure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Hosting, CI/CD, and operations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011680" cy="109728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2011680" cy="36576"/>
          </a:xfrm>
          <a:prstGeom prst="rect">
            <a:avLst>
              <a:gd name="adj" fmla="val 125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+ Edge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0" y="1097280"/>
            <a:ext cx="2011680" cy="109728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1097280"/>
            <a:ext cx="2011680" cy="36576"/>
          </a:xfrm>
          <a:prstGeom prst="rect">
            <a:avLst>
              <a:gd name="adj" fmla="val 125000"/>
            </a:avLst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234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4320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1874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Database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0" y="1097280"/>
            <a:ext cx="2011680" cy="109728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1097280"/>
            <a:ext cx="2011680" cy="36576"/>
          </a:xfrm>
          <a:prstGeom prst="rect">
            <a:avLst>
              <a:gd name="adj" fmla="val 125000"/>
            </a:avLst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234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R2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1874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Storage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0" y="1097280"/>
            <a:ext cx="2011680" cy="109728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1097280"/>
            <a:ext cx="2011680" cy="36576"/>
          </a:xfrm>
          <a:prstGeom prst="rect">
            <a:avLst>
              <a:gd name="adj" fmla="val 125000"/>
            </a:avLst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1234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1520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SMTP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0" y="1874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Service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468880" y="1645920"/>
            <a:ext cx="27432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headEnd type="arrow"/>
          </a:ln>
        </p:spPr>
      </p:sp>
      <p:sp>
        <p:nvSpPr>
          <p:cNvPr id="26" name="Shape 24"/>
          <p:cNvSpPr/>
          <p:nvPr/>
        </p:nvSpPr>
        <p:spPr>
          <a:xfrm>
            <a:off x="4754880" y="1645920"/>
            <a:ext cx="27432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headEnd type="arrow"/>
          </a:ln>
        </p:spPr>
      </p:sp>
      <p:sp>
        <p:nvSpPr>
          <p:cNvPr id="27" name="Shape 25"/>
          <p:cNvSpPr/>
          <p:nvPr/>
        </p:nvSpPr>
        <p:spPr>
          <a:xfrm>
            <a:off x="7040880" y="1645920"/>
            <a:ext cx="27432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headEnd type="arrow"/>
          </a:ln>
        </p:spPr>
      </p:sp>
      <p:sp>
        <p:nvSpPr>
          <p:cNvPr id="28" name="Text 26"/>
          <p:cNvSpPr/>
          <p:nvPr/>
        </p:nvSpPr>
        <p:spPr>
          <a:xfrm>
            <a:off x="45720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Environment Variables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834640"/>
            <a:ext cx="1920240" cy="274320"/>
          </a:xfrm>
          <a:prstGeom prst="rect">
            <a:avLst>
              <a:gd name="adj" fmla="val 16667"/>
            </a:avLst>
          </a:prstGeom>
          <a:solidFill>
            <a:srgbClr val="D4AF37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834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77440" y="2834640"/>
            <a:ext cx="1920240" cy="274320"/>
          </a:xfrm>
          <a:prstGeom prst="rect">
            <a:avLst>
              <a:gd name="adj" fmla="val 16667"/>
            </a:avLst>
          </a:prstGeom>
          <a:solidFill>
            <a:srgbClr val="D4AF37"/>
          </a:solidFill>
          <a:ln/>
        </p:spPr>
      </p:sp>
      <p:sp>
        <p:nvSpPr>
          <p:cNvPr id="32" name="Text 30"/>
          <p:cNvSpPr/>
          <p:nvPr/>
        </p:nvSpPr>
        <p:spPr>
          <a:xfrm>
            <a:off x="2377440" y="2834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108960"/>
            <a:ext cx="1920240" cy="274320"/>
          </a:xfrm>
          <a:prstGeom prst="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DATABASE_URL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377440" y="3108960"/>
            <a:ext cx="1920240" cy="274320"/>
          </a:xfrm>
          <a:prstGeom prst="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237744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connection string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3383280"/>
            <a:ext cx="1920240" cy="274320"/>
          </a:xfrm>
          <a:prstGeom prst="rect">
            <a:avLst>
              <a:gd name="adj" fmla="val 16667"/>
            </a:avLst>
          </a:prstGeom>
          <a:solidFill>
            <a:srgbClr val="141414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383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NEXT_PUBLIC_APP_URL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377440" y="3383280"/>
            <a:ext cx="1920240" cy="274320"/>
          </a:xfrm>
          <a:prstGeom prst="rect">
            <a:avLst>
              <a:gd name="adj" fmla="val 16667"/>
            </a:avLst>
          </a:prstGeom>
          <a:solidFill>
            <a:srgbClr val="141414"/>
          </a:solidFill>
          <a:ln/>
        </p:spPr>
      </p:sp>
      <p:sp>
        <p:nvSpPr>
          <p:cNvPr id="40" name="Text 38"/>
          <p:cNvSpPr/>
          <p:nvPr/>
        </p:nvSpPr>
        <p:spPr>
          <a:xfrm>
            <a:off x="2377440" y="3383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URL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3657600"/>
            <a:ext cx="1920240" cy="274320"/>
          </a:xfrm>
          <a:prstGeom prst="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3657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SMTP_HOST/PORT/USER/PASS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377440" y="3657600"/>
            <a:ext cx="1920240" cy="274320"/>
          </a:xfrm>
          <a:prstGeom prst="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44" name="Text 42"/>
          <p:cNvSpPr/>
          <p:nvPr/>
        </p:nvSpPr>
        <p:spPr>
          <a:xfrm>
            <a:off x="2377440" y="3657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config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3931920"/>
            <a:ext cx="1920240" cy="274320"/>
          </a:xfrm>
          <a:prstGeom prst="rect">
            <a:avLst>
              <a:gd name="adj" fmla="val 16667"/>
            </a:avLst>
          </a:prstGeom>
          <a:solidFill>
            <a:srgbClr val="141414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R2_*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377440" y="3931920"/>
            <a:ext cx="1920240" cy="274320"/>
          </a:xfrm>
          <a:prstGeom prst="rect">
            <a:avLst>
              <a:gd name="adj" fmla="val 16667"/>
            </a:avLst>
          </a:prstGeom>
          <a:solidFill>
            <a:srgbClr val="141414"/>
          </a:solidFill>
          <a:ln/>
        </p:spPr>
      </p:sp>
      <p:sp>
        <p:nvSpPr>
          <p:cNvPr id="48" name="Text 46"/>
          <p:cNvSpPr/>
          <p:nvPr/>
        </p:nvSpPr>
        <p:spPr>
          <a:xfrm>
            <a:off x="237744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R2 keys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200" y="4206240"/>
            <a:ext cx="1920240" cy="274320"/>
          </a:xfrm>
          <a:prstGeom prst="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SESSION_SECRET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377440" y="4206240"/>
            <a:ext cx="1920240" cy="274320"/>
          </a:xfrm>
          <a:prstGeom prst="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52" name="Text 50"/>
          <p:cNvSpPr/>
          <p:nvPr/>
        </p:nvSpPr>
        <p:spPr>
          <a:xfrm>
            <a:off x="2377440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signing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0" y="2834640"/>
            <a:ext cx="2057400" cy="274320"/>
          </a:xfrm>
          <a:prstGeom prst="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0" y="28346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629400" y="2834640"/>
            <a:ext cx="2057400" cy="274320"/>
          </a:xfrm>
          <a:prstGeom prst="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56" name="Text 54"/>
          <p:cNvSpPr/>
          <p:nvPr/>
        </p:nvSpPr>
        <p:spPr>
          <a:xfrm>
            <a:off x="6629400" y="28346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0" y="3108960"/>
            <a:ext cx="2057400" cy="274320"/>
          </a:xfrm>
          <a:prstGeom prst="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58" name="Text 56"/>
          <p:cNvSpPr/>
          <p:nvPr/>
        </p:nvSpPr>
        <p:spPr>
          <a:xfrm>
            <a:off x="4572000" y="31089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VERCEL_CRON_SECRET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629400" y="3108960"/>
            <a:ext cx="2057400" cy="274320"/>
          </a:xfrm>
          <a:prstGeom prst="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60" name="Text 58"/>
          <p:cNvSpPr/>
          <p:nvPr/>
        </p:nvSpPr>
        <p:spPr>
          <a:xfrm>
            <a:off x="6629400" y="31089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cron endpoint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572000" y="3383280"/>
            <a:ext cx="2057400" cy="274320"/>
          </a:xfrm>
          <a:prstGeom prst="rect">
            <a:avLst>
              <a:gd name="adj" fmla="val 16667"/>
            </a:avLst>
          </a:prstGeom>
          <a:solidFill>
            <a:srgbClr val="141414"/>
          </a:solidFill>
          <a:ln/>
        </p:spPr>
      </p:sp>
      <p:sp>
        <p:nvSpPr>
          <p:cNvPr id="62" name="Text 60"/>
          <p:cNvSpPr/>
          <p:nvPr/>
        </p:nvSpPr>
        <p:spPr>
          <a:xfrm>
            <a:off x="4572000" y="3383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BACKUP_EMAIL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629400" y="3383280"/>
            <a:ext cx="2057400" cy="274320"/>
          </a:xfrm>
          <a:prstGeom prst="rect">
            <a:avLst>
              <a:gd name="adj" fmla="val 16667"/>
            </a:avLst>
          </a:prstGeom>
          <a:solidFill>
            <a:srgbClr val="141414"/>
          </a:solidFill>
          <a:ln/>
        </p:spPr>
      </p:sp>
      <p:sp>
        <p:nvSpPr>
          <p:cNvPr id="64" name="Text 62"/>
          <p:cNvSpPr/>
          <p:nvPr/>
        </p:nvSpPr>
        <p:spPr>
          <a:xfrm>
            <a:off x="6629400" y="3383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dumps are sent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572000" y="3657600"/>
            <a:ext cx="2057400" cy="274320"/>
          </a:xfrm>
          <a:prstGeom prst="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66" name="Text 64"/>
          <p:cNvSpPr/>
          <p:nvPr/>
        </p:nvSpPr>
        <p:spPr>
          <a:xfrm>
            <a:off x="4572000" y="36576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R2_BUCKET_NAME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629400" y="3657600"/>
            <a:ext cx="2057400" cy="274320"/>
          </a:xfrm>
          <a:prstGeom prst="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68" name="Text 66"/>
          <p:cNvSpPr/>
          <p:nvPr/>
        </p:nvSpPr>
        <p:spPr>
          <a:xfrm>
            <a:off x="6629400" y="36576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bucket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572000" y="3931920"/>
            <a:ext cx="2057400" cy="274320"/>
          </a:xfrm>
          <a:prstGeom prst="rect">
            <a:avLst>
              <a:gd name="adj" fmla="val 16667"/>
            </a:avLst>
          </a:prstGeom>
          <a:solidFill>
            <a:srgbClr val="141414"/>
          </a:solidFill>
          <a:ln/>
        </p:spPr>
      </p:sp>
      <p:sp>
        <p:nvSpPr>
          <p:cNvPr id="70" name="Text 68"/>
          <p:cNvSpPr/>
          <p:nvPr/>
        </p:nvSpPr>
        <p:spPr>
          <a:xfrm>
            <a:off x="4572000" y="39319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SMTP_FROM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629400" y="3931920"/>
            <a:ext cx="2057400" cy="274320"/>
          </a:xfrm>
          <a:prstGeom prst="rect">
            <a:avLst>
              <a:gd name="adj" fmla="val 16667"/>
            </a:avLst>
          </a:prstGeom>
          <a:solidFill>
            <a:srgbClr val="141414"/>
          </a:solidFill>
          <a:ln/>
        </p:spPr>
      </p:sp>
      <p:sp>
        <p:nvSpPr>
          <p:cNvPr id="72" name="Text 70"/>
          <p:cNvSpPr/>
          <p:nvPr/>
        </p:nvSpPr>
        <p:spPr>
          <a:xfrm>
            <a:off x="6629400" y="39319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email address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572000" y="4206240"/>
            <a:ext cx="2057400" cy="274320"/>
          </a:xfrm>
          <a:prstGeom prst="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74" name="Text 72"/>
          <p:cNvSpPr/>
          <p:nvPr/>
        </p:nvSpPr>
        <p:spPr>
          <a:xfrm>
            <a:off x="4572000" y="42062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629400" y="4206240"/>
            <a:ext cx="2057400" cy="274320"/>
          </a:xfrm>
          <a:prstGeom prst="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76" name="Text 74"/>
          <p:cNvSpPr/>
          <p:nvPr/>
        </p:nvSpPr>
        <p:spPr>
          <a:xfrm>
            <a:off x="6629400" y="42062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features and improvements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Features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3474720"/>
          </a:xfrm>
          <a:prstGeom prst="rect">
            <a:avLst>
              <a:gd name="adj" fmla="val 1667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51560"/>
            <a:ext cx="2743200" cy="365760"/>
          </a:xfrm>
          <a:prstGeom prst="rect">
            <a:avLst>
              <a:gd name="adj" fmla="val 12500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— High Priority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2468880" cy="411480"/>
          </a:xfrm>
          <a:prstGeom prst="rect">
            <a:avLst>
              <a:gd name="adj" fmla="val 11111"/>
            </a:avLst>
          </a:prstGeom>
          <a:solidFill>
            <a:srgbClr val="14141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600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Email verification on registration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2103120"/>
            <a:ext cx="2468880" cy="411480"/>
          </a:xfrm>
          <a:prstGeom prst="rect">
            <a:avLst>
              <a:gd name="adj" fmla="val 11111"/>
            </a:avLst>
          </a:prstGeom>
          <a:solidFill>
            <a:srgbClr val="14141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03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Password reset flow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2606040"/>
            <a:ext cx="2468880" cy="411480"/>
          </a:xfrm>
          <a:prstGeom prst="rect">
            <a:avLst>
              <a:gd name="adj" fmla="val 11111"/>
            </a:avLst>
          </a:prstGeom>
          <a:solidFill>
            <a:srgbClr val="141414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606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Custom domain support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1051560"/>
            <a:ext cx="2743200" cy="3474720"/>
          </a:xfrm>
          <a:prstGeom prst="rect">
            <a:avLst>
              <a:gd name="adj" fmla="val 1667"/>
            </a:avLst>
          </a:prstGeom>
          <a:solidFill>
            <a:srgbClr val="1A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1051560"/>
            <a:ext cx="2743200" cy="365760"/>
          </a:xfrm>
          <a:prstGeom prst="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— Medium Priority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37560" y="1600200"/>
            <a:ext cx="2468880" cy="411480"/>
          </a:xfrm>
          <a:prstGeom prst="rect">
            <a:avLst>
              <a:gd name="adj" fmla="val 11111"/>
            </a:avLst>
          </a:prstGeom>
          <a:solidFill>
            <a:srgbClr val="141414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1600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Team accounts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37560" y="2103120"/>
            <a:ext cx="2468880" cy="411480"/>
          </a:xfrm>
          <a:prstGeom prst="rect">
            <a:avLst>
              <a:gd name="adj" fmla="val 11111"/>
            </a:avLst>
          </a:prstGeom>
          <a:solidFill>
            <a:srgbClr val="141414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2103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Template marketplace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37560" y="2606040"/>
            <a:ext cx="2468880" cy="411480"/>
          </a:xfrm>
          <a:prstGeom prst="rect">
            <a:avLst>
              <a:gd name="adj" fmla="val 11111"/>
            </a:avLst>
          </a:prstGeom>
          <a:solidFill>
            <a:srgbClr val="141414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606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A/B testing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37560" y="3108960"/>
            <a:ext cx="2468880" cy="411480"/>
          </a:xfrm>
          <a:prstGeom prst="rect">
            <a:avLst>
              <a:gd name="adj" fmla="val 11111"/>
            </a:avLst>
          </a:prstGeom>
          <a:solidFill>
            <a:srgbClr val="141414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3108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Multi-language (i18n)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6480" y="1051560"/>
            <a:ext cx="2743200" cy="3474720"/>
          </a:xfrm>
          <a:prstGeom prst="rect">
            <a:avLst>
              <a:gd name="adj" fmla="val 1667"/>
            </a:avLst>
          </a:prstGeom>
          <a:solidFill>
            <a:srgbClr val="1A1A1A"/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1051560"/>
            <a:ext cx="2743200" cy="365760"/>
          </a:xfrm>
          <a:prstGeom prst="rect">
            <a:avLst>
              <a:gd name="adj" fmla="val 12500"/>
            </a:avLst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— Nice to Have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63640" y="1600200"/>
            <a:ext cx="2468880" cy="411480"/>
          </a:xfrm>
          <a:prstGeom prst="rect">
            <a:avLst>
              <a:gd name="adj" fmla="val 11111"/>
            </a:avLst>
          </a:prstGeom>
          <a:solidFill>
            <a:srgbClr val="141414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1600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 content generation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63640" y="2103120"/>
            <a:ext cx="2468880" cy="411480"/>
          </a:xfrm>
          <a:prstGeom prst="rect">
            <a:avLst>
              <a:gd name="adj" fmla="val 11111"/>
            </a:avLst>
          </a:prstGeom>
          <a:solidFill>
            <a:srgbClr val="141414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2103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Animation presets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63640" y="2606040"/>
            <a:ext cx="2468880" cy="411480"/>
          </a:xfrm>
          <a:prstGeom prst="rect">
            <a:avLst>
              <a:gd name="adj" fmla="val 11111"/>
            </a:avLst>
          </a:prstGeom>
          <a:solidFill>
            <a:srgbClr val="141414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2606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Analytics integration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63640" y="3108960"/>
            <a:ext cx="2468880" cy="411480"/>
          </a:xfrm>
          <a:prstGeom prst="rect">
            <a:avLst>
              <a:gd name="adj" fmla="val 11111"/>
            </a:avLst>
          </a:prstGeom>
          <a:solidFill>
            <a:srgbClr val="141414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3108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Contact form + spam protection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63640" y="3611880"/>
            <a:ext cx="2468880" cy="411480"/>
          </a:xfrm>
          <a:prstGeom prst="rect">
            <a:avLst>
              <a:gd name="adj" fmla="val 11111"/>
            </a:avLst>
          </a:prstGeom>
          <a:solidFill>
            <a:srgbClr val="141414"/>
          </a:solidFill>
          <a:ln/>
        </p:spPr>
      </p:sp>
      <p:sp>
        <p:nvSpPr>
          <p:cNvPr id="37" name="Text 35"/>
          <p:cNvSpPr/>
          <p:nvPr/>
        </p:nvSpPr>
        <p:spPr>
          <a:xfrm>
            <a:off x="6355080" y="3611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Calendar integration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14400"/>
            <a:ext cx="2743200" cy="2743200"/>
          </a:xfrm>
          <a:prstGeom prst="ellipse">
            <a:avLst/>
          </a:prstGeom>
          <a:solidFill>
            <a:srgbClr val="3D3200"/>
          </a:solidFill>
          <a:ln/>
          <a:effectLst>
            <a:outerShdw sx="100000" sy="100000" kx="0" ky="0" algn="bl" rotWithShape="0" blurRad="1270000" dist="50800" dir="16200000">
              <a:srgbClr val="D4AF37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0" y="1828800"/>
            <a:ext cx="2743200" cy="54864"/>
          </a:xfrm>
          <a:prstGeom prst="rect">
            <a:avLst>
              <a:gd name="adj" fmla="val 83333"/>
            </a:avLst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 CARD — Your Digital Identity, Elevated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nexcard.io • Built with Next.js, Prisma, Tailwind CSS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 CARD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 CARD — Project Architecture &amp; Flow</dc:title>
  <dc:subject>PptxGenJS Presentation</dc:subject>
  <dc:creator>PptxGenJS</dc:creator>
  <cp:lastModifiedBy>PptxGenJS</cp:lastModifiedBy>
  <cp:revision>1</cp:revision>
  <dcterms:created xsi:type="dcterms:W3CDTF">2026-07-20T13:45:45Z</dcterms:created>
  <dcterms:modified xsi:type="dcterms:W3CDTF">2026-07-20T13:45:45Z</dcterms:modified>
</cp:coreProperties>
</file>